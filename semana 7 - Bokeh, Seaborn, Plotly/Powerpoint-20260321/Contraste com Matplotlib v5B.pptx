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3" r:id="rId6"/>
    <p:sldId id="450" r:id="rId7"/>
    <p:sldId id="454" r:id="rId8"/>
    <p:sldId id="453" r:id="rId9"/>
    <p:sldId id="455" r:id="rId10"/>
    <p:sldId id="457" r:id="rId11"/>
    <p:sldId id="456" r:id="rId12"/>
    <p:sldId id="458" r:id="rId13"/>
    <p:sldId id="460" r:id="rId14"/>
    <p:sldId id="459" r:id="rId15"/>
    <p:sldId id="444" r:id="rId16"/>
    <p:sldId id="442" r:id="rId17"/>
    <p:sldId id="443" r:id="rId18"/>
    <p:sldId id="451" r:id="rId19"/>
    <p:sldId id="446" r:id="rId20"/>
    <p:sldId id="447" r:id="rId21"/>
    <p:sldId id="448" r:id="rId22"/>
    <p:sldId id="449" r:id="rId23"/>
    <p:sldId id="467" r:id="rId24"/>
    <p:sldId id="469" r:id="rId25"/>
    <p:sldId id="468" r:id="rId26"/>
    <p:sldId id="466" r:id="rId27"/>
    <p:sldId id="465" r:id="rId28"/>
    <p:sldId id="463" r:id="rId29"/>
    <p:sldId id="462" r:id="rId30"/>
    <p:sldId id="470" r:id="rId3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1712A-2675-D59E-CD67-803E45432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389A19-5C98-733D-D338-E52DD981C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4AC780F-3910-A071-3731-C10EF56AC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BC723CA-A48F-88EB-E058-D3FBAAEE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B8AE8DE-AACA-525B-997E-31D90869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047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51419-AB57-AF8B-1DF4-B579E3E4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EEBCB49-244B-71B4-AC62-7A74657CC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380A1EE-5F75-988F-0990-F25A0B83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6F228DE-E098-F849-A6A4-9B99272CE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AA20259-BE73-64FD-774B-70033379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5946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0E074-9E0E-BEF6-FD29-94D41A6B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E62C5D6-687C-B746-372C-26E1FABA5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FE2733D-8A3F-4BDC-D70E-4442631DC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B929C81-AB9E-1B35-9698-52F8F625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9EB2895-3D37-2756-B0A5-AF9A569A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189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B6BEB-E585-829B-7F12-4437F5F1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7CF4EBC-3951-A49D-E2B0-1B79FCDA7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70913C8-86CC-6726-58CC-75C5FED23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9C3BDB3-D410-FEE6-9770-7573E233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B68F49B-CDAC-8A6A-B78B-7231FFD0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4C76D03-8D39-A3CB-F7B7-075D4125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4008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B0CA6-E867-42D7-2F1A-F3F61B2F6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310A57E-DAD4-B8CB-1EC2-3E96C90D6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DC5364B-5849-4C7F-3D88-9A8C44734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AC5CBFD2-63C3-7B90-1E51-BF0FDCA5D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976AD590-9902-AA9F-93BD-6E34C2C4E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0B320C71-8111-D73B-7764-4F3D6125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7835BBA-F24F-D87A-0AE8-D823D077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AD34F0DF-0675-1458-2122-122DFCB1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71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19D55-FA23-4117-55AC-3EFE0491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2CEE422-AEF9-6F44-5B1E-9F4EC9B6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A2286FD-4C7E-8C6D-5061-3B5950B4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68A1872-FDAA-FF5E-D999-70CD8718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14979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3056BE4F-1259-FC09-5BA5-55990E3D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ED08667-1F17-2571-F0D0-DDD29EFA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70CADB-29EA-0E2B-1B89-FF5FF326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610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FE1DE-DA57-5D0A-138D-7D6B3A31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520B886-EC18-7C47-1487-2C9C879AF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6117BB2-09CC-6458-8858-EC4F6B499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8DACCE3-F4EF-8ED8-6D90-844AF380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4E6358F-2CF8-9CA1-715D-1C99A2B6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6D24BE7-02F0-B69F-10F8-99B5D5F7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5257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AF5B0-830A-443C-1D96-33322CFF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6004D76-0EEA-EEC1-686B-72E8B0642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547F56A-4129-5811-1617-E4E77657B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CD50F63-4CD4-2946-5398-020D4607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56C793A-6645-B82C-B31C-828756C8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13A6027-216F-D417-00B8-07192D8A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280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7B2DA-77D0-87E4-9570-13959250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D512C1D-90FA-B747-F5B4-538E1D0A9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D0B56A1-F844-844F-F60E-500F1C04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568F0D5-CBD8-E9F8-6682-C4415883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5C80580-2B1D-C789-4068-E6AB8E30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4633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A09C7D-CFF1-B54F-DA14-7592A9BE1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C91B2BF-50B2-D62F-C530-CD29E99E8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56A8C8F-C0C4-A7B9-AD9E-5DDC03C7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0072810-4335-FB23-F1A5-76F8CEA4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B6BA40B-0F17-0746-96C7-A5C3711F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8763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D7E74-C23A-207D-558A-D3C8149D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54F436D-5F12-969E-41E5-2B79A7BC3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2772E1D-3F42-BB2F-AD98-C47FC811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1CE09B6-BAC2-B769-B885-A18A61AE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662E531-2CA0-1C43-00D4-C31BDA41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855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50FDC93-32F3-7205-4DD2-51E5800D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5806B01-F62C-2166-1BA2-7FE0FBFF4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5C8780B-5965-D673-2616-C9A671646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FA3D4-E636-4325-9DAC-620BD243A98B}" type="datetimeFigureOut">
              <a:rPr lang="pt-PT" smtClean="0"/>
              <a:t>20/03/2026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D0EEB46-3F3D-48CC-348F-BB8B9482D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031CE78-1095-9D9E-F1D9-382A2B34F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86E36-C2F0-4C32-89EF-7BD121B65F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10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F840E-84B3-AD30-C181-7ACC3382B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885" y="885291"/>
            <a:ext cx="8969828" cy="1325563"/>
          </a:xfrm>
        </p:spPr>
        <p:txBody>
          <a:bodyPr>
            <a:normAutofit/>
          </a:bodyPr>
          <a:lstStyle/>
          <a:p>
            <a:pPr marR="0" rtl="0"/>
            <a:r>
              <a:rPr lang="pt-PT" b="1" i="0" u="none" strike="noStrike" kern="1800" baseline="0" dirty="0">
                <a:latin typeface="Aptos Display" panose="020B0004020202020204" pitchFamily="34" charset="0"/>
              </a:rPr>
              <a:t>Contraste de </a:t>
            </a:r>
            <a:r>
              <a:rPr lang="pt-PT" b="1" i="0" u="none" strike="noStrike" kern="1800" baseline="0" dirty="0" err="1">
                <a:latin typeface="Aptos Display" panose="020B0004020202020204" pitchFamily="34" charset="0"/>
              </a:rPr>
              <a:t>Matplotlib</a:t>
            </a:r>
            <a:r>
              <a:rPr lang="pt-PT" b="1" i="0" u="none" strike="noStrike" kern="1800" baseline="0" dirty="0">
                <a:latin typeface="Aptos Display" panose="020B0004020202020204" pitchFamily="34" charset="0"/>
              </a:rPr>
              <a:t> com outras bibliotecas em Python</a:t>
            </a:r>
            <a:endParaRPr lang="en" b="1" i="0" u="none" strike="noStrike" kern="1800" baseline="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34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457AD-9F40-D218-9C4B-E6A5941E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visualização de dados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5B519CD-4227-25DD-78DB-2FA97E68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531632"/>
          </a:xfrm>
        </p:spPr>
        <p:txBody>
          <a:bodyPr/>
          <a:lstStyle/>
          <a:p>
            <a:r>
              <a:rPr lang="pt-PT" dirty="0"/>
              <a:t>A visualização é uma parte integrante da análise de dados e da aprendizagem automática. </a:t>
            </a:r>
          </a:p>
          <a:p>
            <a:endParaRPr lang="pt-PT" dirty="0"/>
          </a:p>
          <a:p>
            <a:r>
              <a:rPr lang="pt-PT" dirty="0"/>
              <a:t>Ser capaz de criar gráficos e gráficos significativos a partir dos dados permite aos analistas interpretar facilmente tendências, padrões e relações nos dados. </a:t>
            </a:r>
          </a:p>
          <a:p>
            <a:endParaRPr lang="pt-PT" dirty="0"/>
          </a:p>
          <a:p>
            <a:r>
              <a:rPr lang="pt-PT" dirty="0"/>
              <a:t>O Python emergiu como uma das linguagens de programação mais populares para análise de dados devido ao seu vasto ecossistema de bibliotecas de ciência de dados.</a:t>
            </a:r>
          </a:p>
        </p:txBody>
      </p:sp>
    </p:spTree>
    <p:extLst>
      <p:ext uri="{BB962C8B-B14F-4D97-AF65-F5344CB8AC3E}">
        <p14:creationId xmlns:p14="http://schemas.microsoft.com/office/powerpoint/2010/main" val="2529550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F3E5B-2200-AAEA-63B8-E95FBEB82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b="0" i="0" u="none" strike="noStrike" baseline="0" dirty="0">
                <a:latin typeface="Times New Roman" panose="02020603050405020304" pitchFamily="18" charset="0"/>
              </a:rPr>
              <a:t>Origem do </a:t>
            </a:r>
            <a:r>
              <a:rPr lang="pt-PT" dirty="0" err="1"/>
              <a:t>Matplotlib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BEA2A83-7D09-28AC-288D-B0E55576E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14661"/>
          </a:xfrm>
        </p:spPr>
        <p:txBody>
          <a:bodyPr/>
          <a:lstStyle/>
          <a:p>
            <a:r>
              <a:rPr lang="pt-PT" dirty="0"/>
              <a:t>foi criado por John Hunter no início dos anos 2000, e é a plataforma mais utilizada para visualização gráfica.</a:t>
            </a:r>
          </a:p>
          <a:p>
            <a:endParaRPr lang="pt-PT" dirty="0"/>
          </a:p>
          <a:p>
            <a:r>
              <a:rPr lang="pt-PT" dirty="0"/>
              <a:t>fornece uma estrutura de </a:t>
            </a:r>
            <a:r>
              <a:rPr lang="pt-PT" dirty="0" err="1"/>
              <a:t>ploting</a:t>
            </a:r>
            <a:r>
              <a:rPr lang="pt-PT" dirty="0"/>
              <a:t> ao estilo MATLAB.</a:t>
            </a:r>
          </a:p>
          <a:p>
            <a:endParaRPr lang="pt-PT" dirty="0"/>
          </a:p>
          <a:p>
            <a:r>
              <a:rPr lang="pt-PT" dirty="0"/>
              <a:t>permite aos utilizadores gerar figuras e gráficos de qualidade de publicação com apenas algumas linhas de código. </a:t>
            </a:r>
          </a:p>
          <a:p>
            <a:r>
              <a:rPr lang="pt-PT" dirty="0"/>
              <a:t>Há mais de uma década que existem outras bibliotecas especializadas que são alternativas ao </a:t>
            </a:r>
            <a:r>
              <a:rPr lang="pt-PT" dirty="0" err="1"/>
              <a:t>Matplotlib</a:t>
            </a:r>
            <a:r>
              <a:rPr lang="pt-PT" dirty="0"/>
              <a:t> (e.g. </a:t>
            </a:r>
            <a:r>
              <a:rPr lang="pt-PT" dirty="0" err="1"/>
              <a:t>Seaborn</a:t>
            </a:r>
            <a:r>
              <a:rPr lang="pt-PT" dirty="0"/>
              <a:t>, </a:t>
            </a:r>
            <a:r>
              <a:rPr lang="pt-PT" dirty="0" err="1"/>
              <a:t>Plotly</a:t>
            </a:r>
            <a:r>
              <a:rPr lang="pt-PT" dirty="0"/>
              <a:t> e </a:t>
            </a:r>
            <a:r>
              <a:rPr lang="pt-PT" dirty="0" err="1"/>
              <a:t>Bokeh</a:t>
            </a:r>
            <a:r>
              <a:rPr lang="pt-PT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99796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F21C7-3F31-75E1-7432-FB3C45878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Principais características do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25AE552-797D-E189-958A-924EF3F6B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989739"/>
          </a:xfrm>
        </p:spPr>
        <p:txBody>
          <a:bodyPr>
            <a:normAutofit fontScale="92500" lnSpcReduction="20000"/>
          </a:bodyPr>
          <a:lstStyle/>
          <a:p>
            <a:r>
              <a:rPr lang="pt-PT" dirty="0"/>
              <a:t>1.	Suporte para uma grande variedade de tipos de gráficos.</a:t>
            </a:r>
          </a:p>
          <a:p>
            <a:r>
              <a:rPr lang="pt-PT" dirty="0"/>
              <a:t>2.	Gráficos altamente personalizáveis com controlo sobre </a:t>
            </a:r>
            <a:r>
              <a:rPr lang="pt-PT" dirty="0" err="1"/>
              <a:t>parametros</a:t>
            </a:r>
            <a:r>
              <a:rPr lang="pt-PT" dirty="0"/>
              <a:t>.</a:t>
            </a:r>
          </a:p>
          <a:p>
            <a:r>
              <a:rPr lang="pt-PT" dirty="0"/>
              <a:t>3.	API orientada a objetos e interface </a:t>
            </a:r>
            <a:r>
              <a:rPr lang="pt-PT" dirty="0" err="1"/>
              <a:t>pyplot</a:t>
            </a:r>
            <a:r>
              <a:rPr lang="pt-PT" dirty="0"/>
              <a:t> para </a:t>
            </a:r>
            <a:r>
              <a:rPr lang="pt-PT" dirty="0" err="1"/>
              <a:t>plotamento</a:t>
            </a:r>
            <a:r>
              <a:rPr lang="pt-PT" dirty="0"/>
              <a:t> </a:t>
            </a:r>
            <a:r>
              <a:rPr lang="pt-PT" dirty="0" err="1"/>
              <a:t>procedural</a:t>
            </a:r>
            <a:r>
              <a:rPr lang="pt-PT" dirty="0"/>
              <a:t>.</a:t>
            </a:r>
          </a:p>
          <a:p>
            <a:r>
              <a:rPr lang="pt-PT" dirty="0"/>
              <a:t>4.	Suporte para </a:t>
            </a:r>
            <a:r>
              <a:rPr lang="pt-PT" dirty="0" err="1"/>
              <a:t>arrays</a:t>
            </a:r>
            <a:r>
              <a:rPr lang="pt-PT" dirty="0"/>
              <a:t> </a:t>
            </a:r>
            <a:r>
              <a:rPr lang="pt-PT" dirty="0" err="1"/>
              <a:t>NumPy</a:t>
            </a:r>
            <a:r>
              <a:rPr lang="pt-PT" dirty="0"/>
              <a:t> como dados de entrada.</a:t>
            </a:r>
          </a:p>
          <a:p>
            <a:r>
              <a:rPr lang="pt-PT" dirty="0"/>
              <a:t>5.	Opções de estilo extensas através de temas e folhas de estilo.</a:t>
            </a:r>
          </a:p>
          <a:p>
            <a:r>
              <a:rPr lang="pt-PT" dirty="0"/>
              <a:t>6.	Números de produção de alta qualidade, adequados para publicação.</a:t>
            </a:r>
          </a:p>
          <a:p>
            <a:r>
              <a:rPr lang="pt-PT" dirty="0"/>
              <a:t>7.	Exportar gráficos para vários formatos de ficheiro - PNG, PDF, SVG, etc.</a:t>
            </a:r>
          </a:p>
          <a:p>
            <a:r>
              <a:rPr lang="pt-PT" dirty="0"/>
              <a:t>8.	Incorpora gráficos em </a:t>
            </a:r>
            <a:r>
              <a:rPr lang="pt-PT" dirty="0" err="1"/>
              <a:t>frameworks</a:t>
            </a:r>
            <a:r>
              <a:rPr lang="pt-PT" dirty="0"/>
              <a:t> GUI como </a:t>
            </a:r>
            <a:r>
              <a:rPr lang="pt-PT" dirty="0" err="1"/>
              <a:t>Tkinter</a:t>
            </a:r>
            <a:r>
              <a:rPr lang="pt-PT" dirty="0"/>
              <a:t>, </a:t>
            </a:r>
            <a:r>
              <a:rPr lang="pt-PT" dirty="0" err="1"/>
              <a:t>Qt</a:t>
            </a:r>
            <a:r>
              <a:rPr lang="pt-PT" dirty="0"/>
              <a:t>, </a:t>
            </a:r>
            <a:r>
              <a:rPr lang="pt-PT" dirty="0" err="1"/>
              <a:t>wxPython</a:t>
            </a:r>
            <a:r>
              <a:rPr lang="pt-PT" dirty="0"/>
              <a:t>.</a:t>
            </a:r>
          </a:p>
          <a:p>
            <a:r>
              <a:rPr lang="pt-PT" dirty="0"/>
              <a:t>9.	Animação e capacidades de </a:t>
            </a:r>
            <a:r>
              <a:rPr lang="pt-PT" dirty="0" err="1"/>
              <a:t>ploting</a:t>
            </a:r>
            <a:r>
              <a:rPr lang="pt-PT" dirty="0"/>
              <a:t> interativo.</a:t>
            </a:r>
          </a:p>
          <a:p>
            <a:r>
              <a:rPr lang="pt-PT" dirty="0"/>
              <a:t>10.	Funcionalidade ampla através de kits de ferramentas adicionais.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4548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1170A-2D0D-74D2-EC12-7D2F3B5B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" b="0" i="0" u="none" strike="noStrike" baseline="0" dirty="0">
                <a:latin typeface="Times New Roman" panose="02020603050405020304" pitchFamily="18" charset="0"/>
              </a:rPr>
              <a:t>Matplotlib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57ED9E7-E8E3-4378-737A-29E10CE47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Exemplo de como criar um gráfico de linhas com </a:t>
            </a:r>
            <a:r>
              <a:rPr lang="pt-PT" dirty="0" err="1"/>
              <a:t>Matplotlib</a:t>
            </a:r>
            <a:r>
              <a:rPr lang="pt-PT" dirty="0"/>
              <a:t>: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58A17A3-CEE3-204B-76B3-6FE9C8D02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25299"/>
            <a:ext cx="4515480" cy="3210373"/>
          </a:xfrm>
          <a:prstGeom prst="rect">
            <a:avLst/>
          </a:prstGeom>
        </p:spPr>
      </p:pic>
      <p:pic>
        <p:nvPicPr>
          <p:cNvPr id="10" name="Imagem 9" descr="matplotlib-lineplot">
            <a:extLst>
              <a:ext uri="{FF2B5EF4-FFF2-40B4-BE49-F238E27FC236}">
                <a16:creationId xmlns:a16="http://schemas.microsoft.com/office/drawing/2014/main" id="{44DD873D-658F-A34A-C9C7-337D5CAF2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71" y="2655016"/>
            <a:ext cx="4515480" cy="3521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786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331E-3D23-31C5-4AEF-5E5AE683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CECB6-BA5A-77ED-F738-10C8B1F58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 #1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DF69F5C-93D6-83AD-28B8-CE7FED19C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271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Exercício</a:t>
            </a:r>
            <a:r>
              <a:rPr lang="en-US" dirty="0"/>
              <a:t> 1: Usa o </a:t>
            </a:r>
            <a:r>
              <a:rPr lang="en-US" dirty="0" err="1"/>
              <a:t>ficheiro</a:t>
            </a:r>
            <a:r>
              <a:rPr lang="en-US" dirty="0"/>
              <a:t> "co2_maunaloa.csv", </a:t>
            </a:r>
            <a:r>
              <a:rPr lang="en-US" dirty="0" err="1"/>
              <a:t>fornecido</a:t>
            </a:r>
            <a:r>
              <a:rPr lang="en-US" dirty="0"/>
              <a:t> </a:t>
            </a:r>
            <a:r>
              <a:rPr lang="en-US" dirty="0" err="1"/>
              <a:t>juntamente</a:t>
            </a:r>
            <a:r>
              <a:rPr lang="en-US" dirty="0"/>
              <a:t> com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enunciado</a:t>
            </a:r>
            <a:r>
              <a:rPr lang="en-US" dirty="0"/>
              <a:t>. O </a:t>
            </a:r>
            <a:r>
              <a:rPr lang="en-US" dirty="0" err="1"/>
              <a:t>ficheiro</a:t>
            </a:r>
            <a:r>
              <a:rPr lang="en-US" dirty="0"/>
              <a:t> </a:t>
            </a:r>
            <a:r>
              <a:rPr lang="en-US" dirty="0" err="1"/>
              <a:t>contém</a:t>
            </a:r>
            <a:r>
              <a:rPr lang="en-US" dirty="0"/>
              <a:t> duas </a:t>
            </a:r>
            <a:r>
              <a:rPr lang="en-US" dirty="0" err="1"/>
              <a:t>colunas</a:t>
            </a:r>
            <a:r>
              <a:rPr lang="en-US" dirty="0"/>
              <a:t>: </a:t>
            </a:r>
            <a:r>
              <a:rPr lang="en-US" dirty="0" err="1"/>
              <a:t>ano</a:t>
            </a:r>
            <a:r>
              <a:rPr lang="en-US" dirty="0"/>
              <a:t> e ppm, com dados reais do </a:t>
            </a:r>
            <a:r>
              <a:rPr lang="en-US" dirty="0" err="1"/>
              <a:t>observatório</a:t>
            </a:r>
            <a:r>
              <a:rPr lang="en-US" dirty="0"/>
              <a:t> de Mauna Loa (NOAA). </a:t>
            </a:r>
            <a:r>
              <a:rPr lang="en-US" dirty="0" err="1"/>
              <a:t>Cria</a:t>
            </a:r>
            <a:r>
              <a:rPr lang="en-US" dirty="0"/>
              <a:t> um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Python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carregue</a:t>
            </a:r>
            <a:r>
              <a:rPr lang="en-US" dirty="0"/>
              <a:t> o </a:t>
            </a:r>
            <a:r>
              <a:rPr lang="en-US" dirty="0" err="1"/>
              <a:t>ficheiro</a:t>
            </a:r>
            <a:r>
              <a:rPr lang="en-US" dirty="0"/>
              <a:t> e </a:t>
            </a:r>
            <a:r>
              <a:rPr lang="en-US" dirty="0" err="1"/>
              <a:t>produza</a:t>
            </a:r>
            <a:r>
              <a:rPr lang="en-US" dirty="0"/>
              <a:t> um </a:t>
            </a:r>
            <a:r>
              <a:rPr lang="en-US" dirty="0" err="1"/>
              <a:t>gráfico</a:t>
            </a:r>
            <a:r>
              <a:rPr lang="en-US" dirty="0"/>
              <a:t> de </a:t>
            </a:r>
            <a:r>
              <a:rPr lang="en-US" dirty="0" err="1"/>
              <a:t>linha</a:t>
            </a:r>
            <a:r>
              <a:rPr lang="en-US" dirty="0"/>
              <a:t> com </a:t>
            </a:r>
            <a:r>
              <a:rPr lang="en-US" dirty="0" err="1"/>
              <a:t>área</a:t>
            </a:r>
            <a:r>
              <a:rPr lang="en-US" dirty="0"/>
              <a:t> </a:t>
            </a:r>
            <a:r>
              <a:rPr lang="en-US" dirty="0" err="1"/>
              <a:t>preenchida</a:t>
            </a:r>
            <a:r>
              <a:rPr lang="en-US" dirty="0"/>
              <a:t> </a:t>
            </a:r>
            <a:r>
              <a:rPr lang="en-US" dirty="0" err="1"/>
              <a:t>mostrando</a:t>
            </a:r>
            <a:r>
              <a:rPr lang="en-US" dirty="0"/>
              <a:t> a </a:t>
            </a:r>
            <a:r>
              <a:rPr lang="en-US" dirty="0" err="1"/>
              <a:t>evolução</a:t>
            </a:r>
            <a:r>
              <a:rPr lang="en-US" dirty="0"/>
              <a:t> do CO₂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longo</a:t>
            </a:r>
            <a:r>
              <a:rPr lang="en-US" dirty="0"/>
              <a:t> do tempo.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9302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2253E-0A72-D1D2-7DF4-6E061DBC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83A0F-EFEF-B80A-D589-289A4BF1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Resultado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 #1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2E5480-36E2-F2DA-38F2-9FEC9EEA5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246" y="1850572"/>
            <a:ext cx="6262570" cy="408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47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7BB20-EB27-478C-5103-44C28FDD7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8FF9D-3E0F-4AF8-586E-F83DC6BE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Solução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 #1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28E65DA-F6FD-631F-B3E8-3CD0EDA73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87498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PT" dirty="0" err="1"/>
              <a:t>import</a:t>
            </a:r>
            <a:r>
              <a:rPr lang="pt-PT" dirty="0"/>
              <a:t> </a:t>
            </a:r>
            <a:r>
              <a:rPr lang="pt-PT" dirty="0" err="1"/>
              <a:t>matplotlib.pyplot</a:t>
            </a:r>
            <a:r>
              <a:rPr lang="pt-PT" dirty="0"/>
              <a:t> as </a:t>
            </a:r>
            <a:r>
              <a:rPr lang="pt-PT" dirty="0" err="1"/>
              <a:t>plt</a:t>
            </a:r>
            <a:endParaRPr lang="pt-PT" dirty="0"/>
          </a:p>
          <a:p>
            <a:pPr marL="0" indent="0">
              <a:buNone/>
            </a:pPr>
            <a:r>
              <a:rPr lang="pt-PT" dirty="0" err="1"/>
              <a:t>import</a:t>
            </a:r>
            <a:r>
              <a:rPr lang="pt-PT" dirty="0"/>
              <a:t> pandas as </a:t>
            </a:r>
            <a:r>
              <a:rPr lang="pt-PT" dirty="0" err="1"/>
              <a:t>pd</a:t>
            </a:r>
            <a:endParaRPr lang="pt-PT" dirty="0"/>
          </a:p>
          <a:p>
            <a:pPr marL="0" indent="0">
              <a:buNone/>
            </a:pPr>
            <a:r>
              <a:rPr lang="pt-PT" dirty="0"/>
              <a:t> </a:t>
            </a:r>
          </a:p>
          <a:p>
            <a:pPr marL="0" indent="0">
              <a:buNone/>
            </a:pPr>
            <a:r>
              <a:rPr lang="pt-PT" dirty="0"/>
              <a:t>co2 = </a:t>
            </a:r>
            <a:r>
              <a:rPr lang="pt-PT" dirty="0" err="1"/>
              <a:t>pd.DataFrame</a:t>
            </a:r>
            <a:r>
              <a:rPr lang="pt-PT" dirty="0"/>
              <a:t>({</a:t>
            </a:r>
          </a:p>
          <a:p>
            <a:pPr marL="0" indent="0">
              <a:buNone/>
            </a:pPr>
            <a:r>
              <a:rPr lang="pt-PT" dirty="0"/>
              <a:t>    'ano': [2010, 2012, 2014, 2016, 2018, 2020],</a:t>
            </a:r>
          </a:p>
          <a:p>
            <a:pPr marL="0" indent="0">
              <a:buNone/>
            </a:pPr>
            <a:r>
              <a:rPr lang="pt-PT" dirty="0"/>
              <a:t>    '</a:t>
            </a:r>
            <a:r>
              <a:rPr lang="pt-PT" dirty="0" err="1"/>
              <a:t>ppm</a:t>
            </a:r>
            <a:r>
              <a:rPr lang="pt-PT" dirty="0"/>
              <a:t>': [389.9, 393.8, 398.6, 404.2, 408.5, 414.2]</a:t>
            </a:r>
          </a:p>
          <a:p>
            <a:pPr marL="0" indent="0">
              <a:buNone/>
            </a:pPr>
            <a:r>
              <a:rPr lang="pt-PT" dirty="0"/>
              <a:t>})</a:t>
            </a:r>
          </a:p>
          <a:p>
            <a:pPr marL="0" indent="0">
              <a:buNone/>
            </a:pPr>
            <a:r>
              <a:rPr lang="pt-PT" dirty="0"/>
              <a:t> </a:t>
            </a:r>
          </a:p>
          <a:p>
            <a:pPr marL="0" indent="0">
              <a:buNone/>
            </a:pPr>
            <a:r>
              <a:rPr lang="pt-PT" dirty="0" err="1"/>
              <a:t>plt.style.use</a:t>
            </a:r>
            <a:r>
              <a:rPr lang="pt-PT" dirty="0"/>
              <a:t>('seaborn-v0_8-darkgrid')</a:t>
            </a:r>
          </a:p>
          <a:p>
            <a:pPr marL="0" indent="0">
              <a:buNone/>
            </a:pPr>
            <a:r>
              <a:rPr lang="pt-PT" dirty="0" err="1"/>
              <a:t>plt.figure</a:t>
            </a:r>
            <a:r>
              <a:rPr lang="pt-PT" dirty="0"/>
              <a:t>(</a:t>
            </a:r>
            <a:r>
              <a:rPr lang="pt-PT" dirty="0" err="1"/>
              <a:t>figsize</a:t>
            </a:r>
            <a:r>
              <a:rPr lang="pt-PT" dirty="0"/>
              <a:t>=(8,5))</a:t>
            </a:r>
          </a:p>
          <a:p>
            <a:pPr marL="0" indent="0">
              <a:buNone/>
            </a:pPr>
            <a:r>
              <a:rPr lang="pt-PT" dirty="0" err="1"/>
              <a:t>plt.plot</a:t>
            </a:r>
            <a:r>
              <a:rPr lang="pt-PT" dirty="0"/>
              <a:t>(co2['ano'], co2['</a:t>
            </a:r>
            <a:r>
              <a:rPr lang="pt-PT" dirty="0" err="1"/>
              <a:t>ppm</a:t>
            </a:r>
            <a:r>
              <a:rPr lang="pt-PT" dirty="0"/>
              <a:t>'], </a:t>
            </a:r>
            <a:r>
              <a:rPr lang="pt-PT" dirty="0" err="1"/>
              <a:t>marker</a:t>
            </a:r>
            <a:r>
              <a:rPr lang="pt-PT" dirty="0"/>
              <a:t>='o', </a:t>
            </a:r>
            <a:r>
              <a:rPr lang="pt-PT" dirty="0" err="1"/>
              <a:t>linewidth</a:t>
            </a:r>
            <a:r>
              <a:rPr lang="pt-PT" dirty="0"/>
              <a:t>=2.5, color='</a:t>
            </a:r>
            <a:r>
              <a:rPr lang="pt-PT" dirty="0" err="1"/>
              <a:t>crimson</a:t>
            </a:r>
            <a:r>
              <a:rPr lang="pt-PT" dirty="0"/>
              <a:t>', </a:t>
            </a:r>
            <a:r>
              <a:rPr lang="pt-PT" dirty="0" err="1"/>
              <a:t>label</a:t>
            </a:r>
            <a:r>
              <a:rPr lang="pt-PT" dirty="0"/>
              <a:t>='CO₂ (</a:t>
            </a:r>
            <a:r>
              <a:rPr lang="pt-PT" dirty="0" err="1"/>
              <a:t>ppm</a:t>
            </a:r>
            <a:r>
              <a:rPr lang="pt-PT" dirty="0"/>
              <a:t>)')</a:t>
            </a:r>
          </a:p>
          <a:p>
            <a:pPr marL="0" indent="0">
              <a:buNone/>
            </a:pPr>
            <a:r>
              <a:rPr lang="pt-PT" dirty="0" err="1"/>
              <a:t>plt.fill_between</a:t>
            </a:r>
            <a:r>
              <a:rPr lang="pt-PT" dirty="0"/>
              <a:t>(co2['ano'], co2['</a:t>
            </a:r>
            <a:r>
              <a:rPr lang="pt-PT" dirty="0" err="1"/>
              <a:t>ppm</a:t>
            </a:r>
            <a:r>
              <a:rPr lang="pt-PT" dirty="0"/>
              <a:t>'], </a:t>
            </a:r>
            <a:r>
              <a:rPr lang="pt-PT" dirty="0" err="1"/>
              <a:t>alpha</a:t>
            </a:r>
            <a:r>
              <a:rPr lang="pt-PT" dirty="0"/>
              <a:t>=0.25, color='</a:t>
            </a:r>
            <a:r>
              <a:rPr lang="pt-PT" dirty="0" err="1"/>
              <a:t>crimson</a:t>
            </a:r>
            <a:r>
              <a:rPr lang="pt-PT" dirty="0"/>
              <a:t>')</a:t>
            </a:r>
          </a:p>
          <a:p>
            <a:pPr marL="0" indent="0">
              <a:buNone/>
            </a:pPr>
            <a:r>
              <a:rPr lang="pt-PT" dirty="0" err="1"/>
              <a:t>plt.title</a:t>
            </a:r>
            <a:r>
              <a:rPr lang="pt-PT" dirty="0"/>
              <a:t>('CO₂ Atmosférico (</a:t>
            </a:r>
            <a:r>
              <a:rPr lang="pt-PT" dirty="0" err="1"/>
              <a:t>Mauna</a:t>
            </a:r>
            <a:r>
              <a:rPr lang="pt-PT" dirty="0"/>
              <a:t> Loa) – Amostra Real', </a:t>
            </a:r>
            <a:r>
              <a:rPr lang="pt-PT" dirty="0" err="1"/>
              <a:t>fontsize</a:t>
            </a:r>
            <a:r>
              <a:rPr lang="pt-PT" dirty="0"/>
              <a:t>=14)</a:t>
            </a:r>
          </a:p>
          <a:p>
            <a:pPr marL="0" indent="0">
              <a:buNone/>
            </a:pPr>
            <a:r>
              <a:rPr lang="pt-PT" dirty="0" err="1"/>
              <a:t>plt.xlabel</a:t>
            </a:r>
            <a:r>
              <a:rPr lang="pt-PT" dirty="0"/>
              <a:t>('Ano')</a:t>
            </a:r>
          </a:p>
          <a:p>
            <a:pPr marL="0" indent="0">
              <a:buNone/>
            </a:pPr>
            <a:r>
              <a:rPr lang="pt-PT" dirty="0" err="1"/>
              <a:t>plt.ylabel</a:t>
            </a:r>
            <a:r>
              <a:rPr lang="pt-PT" dirty="0"/>
              <a:t>('CO₂ (</a:t>
            </a:r>
            <a:r>
              <a:rPr lang="pt-PT" dirty="0" err="1"/>
              <a:t>ppm</a:t>
            </a:r>
            <a:r>
              <a:rPr lang="pt-PT" dirty="0"/>
              <a:t>)')</a:t>
            </a:r>
          </a:p>
          <a:p>
            <a:pPr marL="0" indent="0">
              <a:buNone/>
            </a:pPr>
            <a:r>
              <a:rPr lang="pt-PT" dirty="0" err="1"/>
              <a:t>plt.legend</a:t>
            </a:r>
            <a:r>
              <a:rPr lang="pt-PT" dirty="0"/>
              <a:t>()</a:t>
            </a:r>
          </a:p>
          <a:p>
            <a:pPr marL="0" indent="0">
              <a:buNone/>
            </a:pPr>
            <a:r>
              <a:rPr lang="pt-PT" dirty="0" err="1"/>
              <a:t>plt.tight_layout</a:t>
            </a:r>
            <a:r>
              <a:rPr lang="pt-PT" dirty="0"/>
              <a:t>()</a:t>
            </a:r>
          </a:p>
          <a:p>
            <a:pPr marL="0" indent="0">
              <a:buNone/>
            </a:pPr>
            <a:r>
              <a:rPr lang="pt-PT" dirty="0" err="1"/>
              <a:t>plt.show</a:t>
            </a:r>
            <a:r>
              <a:rPr lang="pt-PT" dirty="0"/>
              <a:t>()</a:t>
            </a: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1250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E8A3-06EA-8438-8ABD-DF71161A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1B295-C491-969A-F4FB-0620B084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 #2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B594CD0-3CBF-9D53-72BC-C02A212AF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271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Exercício</a:t>
            </a:r>
            <a:r>
              <a:rPr lang="en-US" dirty="0"/>
              <a:t> 2: Usa o </a:t>
            </a:r>
            <a:r>
              <a:rPr lang="en-US" dirty="0" err="1"/>
              <a:t>ficheiro</a:t>
            </a:r>
            <a:r>
              <a:rPr lang="en-US" dirty="0"/>
              <a:t> "pinguins_palmer.csv", </a:t>
            </a:r>
            <a:r>
              <a:rPr lang="en-US" dirty="0" err="1"/>
              <a:t>incluído</a:t>
            </a:r>
            <a:r>
              <a:rPr lang="en-US" dirty="0"/>
              <a:t> com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enunciado</a:t>
            </a:r>
            <a:r>
              <a:rPr lang="en-US" dirty="0"/>
              <a:t>. O </a:t>
            </a:r>
            <a:r>
              <a:rPr lang="en-US" dirty="0" err="1"/>
              <a:t>ficheiro</a:t>
            </a:r>
            <a:r>
              <a:rPr lang="en-US" dirty="0"/>
              <a:t> </a:t>
            </a:r>
            <a:r>
              <a:rPr lang="en-US" dirty="0" err="1"/>
              <a:t>contém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colunas</a:t>
            </a:r>
            <a:r>
              <a:rPr lang="en-US" dirty="0"/>
              <a:t>: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barbatana</a:t>
            </a:r>
            <a:r>
              <a:rPr lang="en-US" dirty="0"/>
              <a:t> e </a:t>
            </a:r>
            <a:r>
              <a:rPr lang="en-US" dirty="0" err="1"/>
              <a:t>especie</a:t>
            </a:r>
            <a:r>
              <a:rPr lang="en-US" dirty="0"/>
              <a:t>, com dados reais do Palmer Station Antarctica. </a:t>
            </a:r>
            <a:r>
              <a:rPr lang="en-US" dirty="0" err="1"/>
              <a:t>Cria</a:t>
            </a:r>
            <a:r>
              <a:rPr lang="en-US" dirty="0"/>
              <a:t> um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Python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carregue</a:t>
            </a:r>
            <a:r>
              <a:rPr lang="en-US" dirty="0"/>
              <a:t> o </a:t>
            </a:r>
            <a:r>
              <a:rPr lang="en-US" dirty="0" err="1"/>
              <a:t>ficheiro</a:t>
            </a:r>
            <a:r>
              <a:rPr lang="en-US" dirty="0"/>
              <a:t> e </a:t>
            </a:r>
            <a:r>
              <a:rPr lang="en-US" dirty="0" err="1"/>
              <a:t>produza</a:t>
            </a:r>
            <a:r>
              <a:rPr lang="en-US" dirty="0"/>
              <a:t> um scatterplot </a:t>
            </a:r>
            <a:r>
              <a:rPr lang="en-US" dirty="0" err="1"/>
              <a:t>colorido</a:t>
            </a:r>
            <a:r>
              <a:rPr lang="en-US" dirty="0"/>
              <a:t> </a:t>
            </a:r>
            <a:r>
              <a:rPr lang="en-US" dirty="0" err="1"/>
              <a:t>comparando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corporal e </a:t>
            </a:r>
            <a:r>
              <a:rPr lang="en-US" dirty="0" err="1"/>
              <a:t>comprimento</a:t>
            </a:r>
            <a:r>
              <a:rPr lang="en-US" dirty="0"/>
              <a:t> da </a:t>
            </a:r>
            <a:r>
              <a:rPr lang="en-US" dirty="0" err="1"/>
              <a:t>barbatana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espécie</a:t>
            </a:r>
            <a:r>
              <a:rPr lang="en-US" dirty="0"/>
              <a:t>.</a:t>
            </a: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68989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BA0B6-A696-5DA5-FC7A-2AE06A922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B5D81-96CD-33A0-C3E1-AAD1293B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Resultado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 #2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8A0754C-2495-D18C-4A9F-DF5BDC1F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874" y="1937658"/>
            <a:ext cx="5943782" cy="375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01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2C0B5-1F07-D999-5CFE-F704AE22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6D83E-E602-0F9C-4C57-191F2C4A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Solução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 #2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3C6B497-9DB3-46C7-DCE8-322C095FF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87498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PT" dirty="0" err="1"/>
              <a:t>import</a:t>
            </a:r>
            <a:r>
              <a:rPr lang="pt-PT" dirty="0"/>
              <a:t> </a:t>
            </a:r>
            <a:r>
              <a:rPr lang="pt-PT" dirty="0" err="1"/>
              <a:t>matplotlib.pyplot</a:t>
            </a:r>
            <a:r>
              <a:rPr lang="pt-PT" dirty="0"/>
              <a:t> as </a:t>
            </a:r>
            <a:r>
              <a:rPr lang="pt-PT" dirty="0" err="1"/>
              <a:t>plt</a:t>
            </a:r>
            <a:endParaRPr lang="pt-PT" dirty="0"/>
          </a:p>
          <a:p>
            <a:pPr marL="0" indent="0">
              <a:buNone/>
            </a:pPr>
            <a:r>
              <a:rPr lang="pt-PT" dirty="0" err="1"/>
              <a:t>import</a:t>
            </a:r>
            <a:r>
              <a:rPr lang="pt-PT" dirty="0"/>
              <a:t> pandas as </a:t>
            </a:r>
            <a:r>
              <a:rPr lang="pt-PT" dirty="0" err="1"/>
              <a:t>pd</a:t>
            </a:r>
            <a:endParaRPr lang="pt-PT" dirty="0"/>
          </a:p>
          <a:p>
            <a:pPr marL="0" indent="0">
              <a:buNone/>
            </a:pPr>
            <a:r>
              <a:rPr lang="pt-PT" dirty="0"/>
              <a:t> </a:t>
            </a:r>
          </a:p>
          <a:p>
            <a:pPr marL="0" indent="0">
              <a:buNone/>
            </a:pPr>
            <a:r>
              <a:rPr lang="pt-PT" dirty="0" err="1"/>
              <a:t>penguins</a:t>
            </a:r>
            <a:r>
              <a:rPr lang="pt-PT" dirty="0"/>
              <a:t> = </a:t>
            </a:r>
            <a:r>
              <a:rPr lang="pt-PT" dirty="0" err="1"/>
              <a:t>pd.DataFrame</a:t>
            </a:r>
            <a:r>
              <a:rPr lang="pt-PT" dirty="0"/>
              <a:t>({</a:t>
            </a:r>
          </a:p>
          <a:p>
            <a:pPr marL="0" indent="0">
              <a:buNone/>
            </a:pPr>
            <a:r>
              <a:rPr lang="pt-PT" dirty="0"/>
              <a:t>    'massa': [3750, 3800, 3250, 5000, 5200, 4800, 3600, 3900],</a:t>
            </a:r>
          </a:p>
          <a:p>
            <a:pPr marL="0" indent="0">
              <a:buNone/>
            </a:pPr>
            <a:r>
              <a:rPr lang="pt-PT" dirty="0"/>
              <a:t>    'barbatana': [181, 186, 195, 210, 214, 208, 190, 200],</a:t>
            </a:r>
          </a:p>
          <a:p>
            <a:pPr marL="0" indent="0">
              <a:buNone/>
            </a:pPr>
            <a:r>
              <a:rPr lang="pt-PT" dirty="0"/>
              <a:t>    '</a:t>
            </a:r>
            <a:r>
              <a:rPr lang="pt-PT" dirty="0" err="1"/>
              <a:t>especie</a:t>
            </a:r>
            <a:r>
              <a:rPr lang="pt-PT" dirty="0"/>
              <a:t>': ['Adelie','Adelie','Adelie','Gentoo','Gentoo','Gentoo','Chinstrap','Chinstrap']</a:t>
            </a:r>
          </a:p>
          <a:p>
            <a:pPr marL="0" indent="0">
              <a:buNone/>
            </a:pPr>
            <a:r>
              <a:rPr lang="pt-PT" dirty="0"/>
              <a:t>})</a:t>
            </a:r>
          </a:p>
          <a:p>
            <a:pPr marL="0" indent="0">
              <a:buNone/>
            </a:pPr>
            <a:r>
              <a:rPr lang="pt-PT" dirty="0"/>
              <a:t> </a:t>
            </a:r>
          </a:p>
          <a:p>
            <a:pPr marL="0" indent="0">
              <a:buNone/>
            </a:pPr>
            <a:r>
              <a:rPr lang="pt-PT" dirty="0" err="1"/>
              <a:t>plt.figure</a:t>
            </a:r>
            <a:r>
              <a:rPr lang="pt-PT" dirty="0"/>
              <a:t>(</a:t>
            </a:r>
            <a:r>
              <a:rPr lang="pt-PT" dirty="0" err="1"/>
              <a:t>figsize</a:t>
            </a:r>
            <a:r>
              <a:rPr lang="pt-PT" dirty="0"/>
              <a:t>=(8,5))</a:t>
            </a:r>
          </a:p>
          <a:p>
            <a:pPr marL="0" indent="0">
              <a:buNone/>
            </a:pPr>
            <a:r>
              <a:rPr lang="pt-PT" dirty="0" err="1"/>
              <a:t>colors</a:t>
            </a:r>
            <a:r>
              <a:rPr lang="pt-PT" dirty="0"/>
              <a:t> = {'</a:t>
            </a:r>
            <a:r>
              <a:rPr lang="pt-PT" dirty="0" err="1"/>
              <a:t>Adelie</a:t>
            </a:r>
            <a:r>
              <a:rPr lang="pt-PT" dirty="0"/>
              <a:t>': '</a:t>
            </a:r>
            <a:r>
              <a:rPr lang="pt-PT" dirty="0" err="1"/>
              <a:t>skyblue</a:t>
            </a:r>
            <a:r>
              <a:rPr lang="pt-PT" dirty="0"/>
              <a:t>', '</a:t>
            </a:r>
            <a:r>
              <a:rPr lang="pt-PT" dirty="0" err="1"/>
              <a:t>Gentoo</a:t>
            </a:r>
            <a:r>
              <a:rPr lang="pt-PT" dirty="0"/>
              <a:t>': '</a:t>
            </a:r>
            <a:r>
              <a:rPr lang="pt-PT" dirty="0" err="1"/>
              <a:t>orange</a:t>
            </a:r>
            <a:r>
              <a:rPr lang="pt-PT" dirty="0"/>
              <a:t>', '</a:t>
            </a:r>
            <a:r>
              <a:rPr lang="pt-PT" dirty="0" err="1"/>
              <a:t>Chinstrap</a:t>
            </a:r>
            <a:r>
              <a:rPr lang="pt-PT" dirty="0"/>
              <a:t>': 'green'}</a:t>
            </a:r>
          </a:p>
          <a:p>
            <a:pPr marL="0" indent="0">
              <a:buNone/>
            </a:pPr>
            <a:r>
              <a:rPr lang="pt-PT" dirty="0"/>
              <a:t> </a:t>
            </a:r>
          </a:p>
          <a:p>
            <a:pPr marL="0" indent="0">
              <a:buNone/>
            </a:pPr>
            <a:r>
              <a:rPr lang="pt-PT" dirty="0"/>
              <a:t>for </a:t>
            </a:r>
            <a:r>
              <a:rPr lang="pt-PT" dirty="0" err="1"/>
              <a:t>especie</a:t>
            </a:r>
            <a:r>
              <a:rPr lang="pt-PT" dirty="0"/>
              <a:t>, grupo in </a:t>
            </a:r>
            <a:r>
              <a:rPr lang="pt-PT" dirty="0" err="1"/>
              <a:t>penguins.groupby</a:t>
            </a:r>
            <a:r>
              <a:rPr lang="pt-PT" dirty="0"/>
              <a:t>('</a:t>
            </a:r>
            <a:r>
              <a:rPr lang="pt-PT" dirty="0" err="1"/>
              <a:t>especie</a:t>
            </a:r>
            <a:r>
              <a:rPr lang="pt-PT" dirty="0"/>
              <a:t>'):</a:t>
            </a:r>
          </a:p>
          <a:p>
            <a:pPr marL="0" indent="0">
              <a:buNone/>
            </a:pPr>
            <a:r>
              <a:rPr lang="pt-PT" dirty="0"/>
              <a:t>    </a:t>
            </a:r>
            <a:r>
              <a:rPr lang="pt-PT" dirty="0" err="1"/>
              <a:t>plt.scatter</a:t>
            </a:r>
            <a:r>
              <a:rPr lang="pt-PT" dirty="0"/>
              <a:t>(grupo['massa'], grupo['barbatana'], s=100,</a:t>
            </a:r>
          </a:p>
          <a:p>
            <a:pPr marL="0" indent="0">
              <a:buNone/>
            </a:pPr>
            <a:r>
              <a:rPr lang="pt-PT" dirty="0"/>
              <a:t>                </a:t>
            </a:r>
            <a:r>
              <a:rPr lang="pt-PT" dirty="0" err="1"/>
              <a:t>label</a:t>
            </a:r>
            <a:r>
              <a:rPr lang="pt-PT" dirty="0"/>
              <a:t>=</a:t>
            </a:r>
            <a:r>
              <a:rPr lang="pt-PT" dirty="0" err="1"/>
              <a:t>especie</a:t>
            </a:r>
            <a:r>
              <a:rPr lang="pt-PT" dirty="0"/>
              <a:t>, color=</a:t>
            </a:r>
            <a:r>
              <a:rPr lang="pt-PT" dirty="0" err="1"/>
              <a:t>colors</a:t>
            </a:r>
            <a:r>
              <a:rPr lang="pt-PT" dirty="0"/>
              <a:t>[</a:t>
            </a:r>
            <a:r>
              <a:rPr lang="pt-PT" dirty="0" err="1"/>
              <a:t>especie</a:t>
            </a:r>
            <a:r>
              <a:rPr lang="pt-PT" dirty="0"/>
              <a:t>], </a:t>
            </a:r>
            <a:r>
              <a:rPr lang="pt-PT" dirty="0" err="1"/>
              <a:t>edgecolor</a:t>
            </a:r>
            <a:r>
              <a:rPr lang="pt-PT" dirty="0"/>
              <a:t>='</a:t>
            </a:r>
            <a:r>
              <a:rPr lang="pt-PT" dirty="0" err="1"/>
              <a:t>black</a:t>
            </a:r>
            <a:r>
              <a:rPr lang="pt-PT" dirty="0"/>
              <a:t>')</a:t>
            </a:r>
          </a:p>
          <a:p>
            <a:pPr marL="0" indent="0">
              <a:buNone/>
            </a:pPr>
            <a:r>
              <a:rPr lang="pt-PT" dirty="0"/>
              <a:t> </a:t>
            </a:r>
          </a:p>
          <a:p>
            <a:pPr marL="0" indent="0">
              <a:buNone/>
            </a:pPr>
            <a:r>
              <a:rPr lang="pt-PT" dirty="0" err="1"/>
              <a:t>plt.title</a:t>
            </a:r>
            <a:r>
              <a:rPr lang="pt-PT" dirty="0"/>
              <a:t>('Pinguins – Massa </a:t>
            </a:r>
            <a:r>
              <a:rPr lang="pt-PT" dirty="0" err="1"/>
              <a:t>vs</a:t>
            </a:r>
            <a:r>
              <a:rPr lang="pt-PT" dirty="0"/>
              <a:t> Barbatana (dados reais)', </a:t>
            </a:r>
            <a:r>
              <a:rPr lang="pt-PT" dirty="0" err="1"/>
              <a:t>fontsize</a:t>
            </a:r>
            <a:r>
              <a:rPr lang="pt-PT" dirty="0"/>
              <a:t>=14)</a:t>
            </a:r>
          </a:p>
          <a:p>
            <a:pPr marL="0" indent="0">
              <a:buNone/>
            </a:pPr>
            <a:r>
              <a:rPr lang="pt-PT" dirty="0" err="1"/>
              <a:t>plt.xlabel</a:t>
            </a:r>
            <a:r>
              <a:rPr lang="pt-PT" dirty="0"/>
              <a:t>('Massa (g)')</a:t>
            </a:r>
          </a:p>
          <a:p>
            <a:pPr marL="0" indent="0">
              <a:buNone/>
            </a:pPr>
            <a:r>
              <a:rPr lang="pt-PT" dirty="0" err="1"/>
              <a:t>plt.ylabel</a:t>
            </a:r>
            <a:r>
              <a:rPr lang="pt-PT" dirty="0"/>
              <a:t>('Comprimento da Barbatana (mm)')</a:t>
            </a:r>
          </a:p>
          <a:p>
            <a:pPr marL="0" indent="0">
              <a:buNone/>
            </a:pPr>
            <a:r>
              <a:rPr lang="pt-PT" dirty="0" err="1"/>
              <a:t>plt.legend</a:t>
            </a:r>
            <a:r>
              <a:rPr lang="pt-PT" dirty="0"/>
              <a:t>(</a:t>
            </a:r>
            <a:r>
              <a:rPr lang="pt-PT" dirty="0" err="1"/>
              <a:t>title</a:t>
            </a:r>
            <a:r>
              <a:rPr lang="pt-PT" dirty="0"/>
              <a:t>='Espécie')</a:t>
            </a:r>
          </a:p>
          <a:p>
            <a:pPr marL="0" indent="0">
              <a:buNone/>
            </a:pPr>
            <a:r>
              <a:rPr lang="pt-PT" dirty="0" err="1"/>
              <a:t>plt.grid</a:t>
            </a:r>
            <a:r>
              <a:rPr lang="pt-PT" dirty="0"/>
              <a:t>(</a:t>
            </a:r>
            <a:r>
              <a:rPr lang="pt-PT" dirty="0" err="1"/>
              <a:t>alpha</a:t>
            </a:r>
            <a:r>
              <a:rPr lang="pt-PT" dirty="0"/>
              <a:t>=0.3)</a:t>
            </a:r>
          </a:p>
          <a:p>
            <a:pPr marL="0" indent="0">
              <a:buNone/>
            </a:pPr>
            <a:r>
              <a:rPr lang="pt-PT" dirty="0" err="1"/>
              <a:t>plt.tight_layout</a:t>
            </a:r>
            <a:r>
              <a:rPr lang="pt-PT" dirty="0"/>
              <a:t>()</a:t>
            </a:r>
          </a:p>
          <a:p>
            <a:pPr marL="0" indent="0">
              <a:buNone/>
            </a:pPr>
            <a:r>
              <a:rPr lang="pt-PT" dirty="0" err="1"/>
              <a:t>plt.show</a:t>
            </a:r>
            <a:r>
              <a:rPr lang="pt-PT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07631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A57EE-B2F4-6612-8F31-702201BDB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F9874-980D-3986-6F06-D9AE2D72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 #3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D339745-A71F-E6B5-7F4D-AF31D1F99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271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Exercício</a:t>
            </a:r>
            <a:r>
              <a:rPr lang="en-US" dirty="0"/>
              <a:t> 3: Usa o </a:t>
            </a:r>
            <a:r>
              <a:rPr lang="en-US" dirty="0" err="1"/>
              <a:t>ficheiro</a:t>
            </a:r>
            <a:r>
              <a:rPr lang="en-US" dirty="0"/>
              <a:t> "mpg_epa.csv", </a:t>
            </a:r>
            <a:r>
              <a:rPr lang="en-US" dirty="0" err="1"/>
              <a:t>fornecido</a:t>
            </a:r>
            <a:r>
              <a:rPr lang="en-US" dirty="0"/>
              <a:t> com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enunciado</a:t>
            </a:r>
            <a:r>
              <a:rPr lang="en-US" dirty="0"/>
              <a:t>. O </a:t>
            </a:r>
            <a:r>
              <a:rPr lang="en-US" dirty="0" err="1"/>
              <a:t>ficheiro</a:t>
            </a:r>
            <a:r>
              <a:rPr lang="en-US" dirty="0"/>
              <a:t> </a:t>
            </a:r>
            <a:r>
              <a:rPr lang="en-US" dirty="0" err="1"/>
              <a:t>contém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coluna</a:t>
            </a:r>
            <a:r>
              <a:rPr lang="en-US" dirty="0"/>
              <a:t> mpg com </a:t>
            </a:r>
            <a:r>
              <a:rPr lang="en-US" dirty="0" err="1"/>
              <a:t>valores</a:t>
            </a:r>
            <a:r>
              <a:rPr lang="en-US" dirty="0"/>
              <a:t> reais de </a:t>
            </a:r>
            <a:r>
              <a:rPr lang="en-US" dirty="0" err="1"/>
              <a:t>eficiência</a:t>
            </a:r>
            <a:r>
              <a:rPr lang="en-US" dirty="0"/>
              <a:t> </a:t>
            </a:r>
            <a:r>
              <a:rPr lang="en-US" dirty="0" err="1"/>
              <a:t>energética</a:t>
            </a:r>
            <a:r>
              <a:rPr lang="en-US" dirty="0"/>
              <a:t> de </a:t>
            </a:r>
            <a:r>
              <a:rPr lang="en-US" dirty="0" err="1"/>
              <a:t>veículos</a:t>
            </a:r>
            <a:r>
              <a:rPr lang="en-US" dirty="0"/>
              <a:t> (EPA). </a:t>
            </a:r>
            <a:r>
              <a:rPr lang="en-US" dirty="0" err="1"/>
              <a:t>Cria</a:t>
            </a:r>
            <a:r>
              <a:rPr lang="en-US" dirty="0"/>
              <a:t> um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Python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carregue</a:t>
            </a:r>
            <a:r>
              <a:rPr lang="en-US" dirty="0"/>
              <a:t> o </a:t>
            </a:r>
            <a:r>
              <a:rPr lang="en-US" dirty="0" err="1"/>
              <a:t>ficheiro</a:t>
            </a:r>
            <a:r>
              <a:rPr lang="en-US" dirty="0"/>
              <a:t> e </a:t>
            </a:r>
            <a:r>
              <a:rPr lang="en-US" dirty="0" err="1"/>
              <a:t>produza</a:t>
            </a:r>
            <a:r>
              <a:rPr lang="en-US" dirty="0"/>
              <a:t> um </a:t>
            </a:r>
            <a:r>
              <a:rPr lang="en-US" dirty="0" err="1"/>
              <a:t>histograma</a:t>
            </a:r>
            <a:r>
              <a:rPr lang="en-US" dirty="0"/>
              <a:t> </a:t>
            </a:r>
            <a:r>
              <a:rPr lang="en-US" dirty="0" err="1"/>
              <a:t>estilizado</a:t>
            </a:r>
            <a:r>
              <a:rPr lang="en-US" dirty="0"/>
              <a:t> </a:t>
            </a:r>
            <a:r>
              <a:rPr lang="en-US" dirty="0" err="1"/>
              <a:t>mostrando</a:t>
            </a:r>
            <a:r>
              <a:rPr lang="en-US" dirty="0"/>
              <a:t> a </a:t>
            </a:r>
            <a:r>
              <a:rPr lang="en-US" dirty="0" err="1"/>
              <a:t>distribuição</a:t>
            </a:r>
            <a:r>
              <a:rPr lang="en-US" dirty="0"/>
              <a:t> de MPG.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89665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A9EA-5506-70D9-FA66-93AC2C2E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AA0F7-625F-DFBC-8229-0C60DB4B7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Resultado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 #3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E98E658-BED9-225B-366E-C494E148F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02" y="1746705"/>
            <a:ext cx="7255338" cy="474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20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1142-ED82-FF7E-698C-1FF706D0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CDB94-2E33-2B4A-0A26-8908BDCB3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Solução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Matplotlib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 #3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E2F23B7-84DE-0699-F8FC-43A9AE002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87498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PT" dirty="0" err="1"/>
              <a:t>import</a:t>
            </a:r>
            <a:r>
              <a:rPr lang="pt-PT" dirty="0"/>
              <a:t> </a:t>
            </a:r>
            <a:r>
              <a:rPr lang="pt-PT" dirty="0" err="1"/>
              <a:t>matplotlib.pyplot</a:t>
            </a:r>
            <a:r>
              <a:rPr lang="pt-PT" dirty="0"/>
              <a:t> as </a:t>
            </a:r>
            <a:r>
              <a:rPr lang="pt-PT" dirty="0" err="1"/>
              <a:t>plt</a:t>
            </a:r>
            <a:endParaRPr lang="pt-PT" dirty="0"/>
          </a:p>
          <a:p>
            <a:pPr marL="0" indent="0">
              <a:buNone/>
            </a:pPr>
            <a:r>
              <a:rPr lang="pt-PT" dirty="0" err="1"/>
              <a:t>import</a:t>
            </a:r>
            <a:r>
              <a:rPr lang="pt-PT" dirty="0"/>
              <a:t> pandas as </a:t>
            </a:r>
            <a:r>
              <a:rPr lang="pt-PT" dirty="0" err="1"/>
              <a:t>pd</a:t>
            </a:r>
            <a:endParaRPr lang="pt-PT" dirty="0"/>
          </a:p>
          <a:p>
            <a:pPr marL="0" indent="0">
              <a:buNone/>
            </a:pPr>
            <a:r>
              <a:rPr lang="pt-PT" dirty="0"/>
              <a:t> </a:t>
            </a:r>
          </a:p>
          <a:p>
            <a:pPr marL="0" indent="0">
              <a:buNone/>
            </a:pPr>
            <a:r>
              <a:rPr lang="pt-PT" dirty="0" err="1"/>
              <a:t>mpg</a:t>
            </a:r>
            <a:r>
              <a:rPr lang="pt-PT" dirty="0"/>
              <a:t> = </a:t>
            </a:r>
            <a:r>
              <a:rPr lang="pt-PT" dirty="0" err="1"/>
              <a:t>pd.DataFrame</a:t>
            </a:r>
            <a:r>
              <a:rPr lang="pt-PT" dirty="0"/>
              <a:t>({</a:t>
            </a:r>
          </a:p>
          <a:p>
            <a:pPr marL="0" indent="0">
              <a:buNone/>
            </a:pPr>
            <a:r>
              <a:rPr lang="pt-PT" dirty="0"/>
              <a:t>    '</a:t>
            </a:r>
            <a:r>
              <a:rPr lang="pt-PT" dirty="0" err="1"/>
              <a:t>mpg</a:t>
            </a:r>
            <a:r>
              <a:rPr lang="pt-PT" dirty="0"/>
              <a:t>': [18, 21, 22, 24, 27, 30, 33, 35, 38, 41, 44]</a:t>
            </a:r>
          </a:p>
          <a:p>
            <a:pPr marL="0" indent="0">
              <a:buNone/>
            </a:pPr>
            <a:r>
              <a:rPr lang="pt-PT" dirty="0"/>
              <a:t>})</a:t>
            </a:r>
          </a:p>
          <a:p>
            <a:pPr marL="0" indent="0">
              <a:buNone/>
            </a:pPr>
            <a:r>
              <a:rPr lang="pt-PT" dirty="0"/>
              <a:t> </a:t>
            </a:r>
          </a:p>
          <a:p>
            <a:pPr marL="0" indent="0">
              <a:buNone/>
            </a:pPr>
            <a:r>
              <a:rPr lang="pt-PT" dirty="0" err="1"/>
              <a:t>plt.figure</a:t>
            </a:r>
            <a:r>
              <a:rPr lang="pt-PT" dirty="0"/>
              <a:t>(</a:t>
            </a:r>
            <a:r>
              <a:rPr lang="pt-PT" dirty="0" err="1"/>
              <a:t>figsize</a:t>
            </a:r>
            <a:r>
              <a:rPr lang="pt-PT" dirty="0"/>
              <a:t>=(8,5))</a:t>
            </a:r>
          </a:p>
          <a:p>
            <a:pPr marL="0" indent="0">
              <a:buNone/>
            </a:pPr>
            <a:r>
              <a:rPr lang="pt-PT" dirty="0" err="1"/>
              <a:t>plt.hist</a:t>
            </a:r>
            <a:r>
              <a:rPr lang="pt-PT" dirty="0"/>
              <a:t>(</a:t>
            </a:r>
            <a:r>
              <a:rPr lang="pt-PT" dirty="0" err="1"/>
              <a:t>mpg</a:t>
            </a:r>
            <a:r>
              <a:rPr lang="pt-PT" dirty="0"/>
              <a:t>['</a:t>
            </a:r>
            <a:r>
              <a:rPr lang="pt-PT" dirty="0" err="1"/>
              <a:t>mpg</a:t>
            </a:r>
            <a:r>
              <a:rPr lang="pt-PT" dirty="0"/>
              <a:t>'], </a:t>
            </a:r>
            <a:r>
              <a:rPr lang="pt-PT" dirty="0" err="1"/>
              <a:t>bins</a:t>
            </a:r>
            <a:r>
              <a:rPr lang="pt-PT" dirty="0"/>
              <a:t>=6, color='</a:t>
            </a:r>
            <a:r>
              <a:rPr lang="pt-PT" dirty="0" err="1"/>
              <a:t>steelblue</a:t>
            </a:r>
            <a:r>
              <a:rPr lang="pt-PT" dirty="0"/>
              <a:t>', </a:t>
            </a:r>
            <a:r>
              <a:rPr lang="pt-PT" dirty="0" err="1"/>
              <a:t>alpha</a:t>
            </a:r>
            <a:r>
              <a:rPr lang="pt-PT" dirty="0"/>
              <a:t>=0.75, </a:t>
            </a:r>
            <a:r>
              <a:rPr lang="pt-PT" dirty="0" err="1"/>
              <a:t>edgecolor</a:t>
            </a:r>
            <a:r>
              <a:rPr lang="pt-PT" dirty="0"/>
              <a:t>='</a:t>
            </a:r>
            <a:r>
              <a:rPr lang="pt-PT" dirty="0" err="1"/>
              <a:t>black</a:t>
            </a:r>
            <a:r>
              <a:rPr lang="pt-PT" dirty="0"/>
              <a:t>')</a:t>
            </a:r>
          </a:p>
          <a:p>
            <a:pPr marL="0" indent="0">
              <a:buNone/>
            </a:pPr>
            <a:r>
              <a:rPr lang="pt-PT" dirty="0" err="1"/>
              <a:t>plt.title</a:t>
            </a:r>
            <a:r>
              <a:rPr lang="pt-PT" dirty="0"/>
              <a:t>('Distribuição de MPG – Dados Reais EPA (amostra)', </a:t>
            </a:r>
            <a:r>
              <a:rPr lang="pt-PT" dirty="0" err="1"/>
              <a:t>fontsize</a:t>
            </a:r>
            <a:r>
              <a:rPr lang="pt-PT" dirty="0"/>
              <a:t>=14)</a:t>
            </a:r>
          </a:p>
          <a:p>
            <a:pPr marL="0" indent="0">
              <a:buNone/>
            </a:pPr>
            <a:r>
              <a:rPr lang="pt-PT" dirty="0" err="1"/>
              <a:t>plt.xlabel</a:t>
            </a:r>
            <a:r>
              <a:rPr lang="pt-PT" dirty="0"/>
              <a:t>('MPG')</a:t>
            </a:r>
          </a:p>
          <a:p>
            <a:pPr marL="0" indent="0">
              <a:buNone/>
            </a:pPr>
            <a:r>
              <a:rPr lang="pt-PT" dirty="0" err="1"/>
              <a:t>plt.ylabel</a:t>
            </a:r>
            <a:r>
              <a:rPr lang="pt-PT" dirty="0"/>
              <a:t>('Frequência')</a:t>
            </a:r>
          </a:p>
          <a:p>
            <a:pPr marL="0" indent="0">
              <a:buNone/>
            </a:pPr>
            <a:r>
              <a:rPr lang="pt-PT" dirty="0" err="1"/>
              <a:t>plt.grid</a:t>
            </a:r>
            <a:r>
              <a:rPr lang="pt-PT" dirty="0"/>
              <a:t>(</a:t>
            </a:r>
            <a:r>
              <a:rPr lang="pt-PT" dirty="0" err="1"/>
              <a:t>alpha</a:t>
            </a:r>
            <a:r>
              <a:rPr lang="pt-PT" dirty="0"/>
              <a:t>=0.3)</a:t>
            </a:r>
          </a:p>
          <a:p>
            <a:pPr marL="0" indent="0">
              <a:buNone/>
            </a:pPr>
            <a:r>
              <a:rPr lang="pt-PT" dirty="0" err="1"/>
              <a:t>plt.tight_layout</a:t>
            </a:r>
            <a:r>
              <a:rPr lang="pt-PT" dirty="0"/>
              <a:t>()</a:t>
            </a:r>
          </a:p>
          <a:p>
            <a:pPr marL="0" indent="0">
              <a:buNone/>
            </a:pPr>
            <a:r>
              <a:rPr lang="pt-PT" dirty="0" err="1"/>
              <a:t>plt.show</a:t>
            </a:r>
            <a:r>
              <a:rPr lang="pt-PT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6903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4D47C-D12D-FE5B-C498-39D6758E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BACFD-2892-E114-1B7F-667F715D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b="0" i="0" u="none" strike="noStrike" baseline="0" dirty="0">
                <a:latin typeface="Times New Roman" panose="02020603050405020304" pitchFamily="18" charset="0"/>
              </a:rPr>
              <a:t>Origem do </a:t>
            </a:r>
            <a:r>
              <a:rPr lang="pt-PT" dirty="0" err="1"/>
              <a:t>Seaborn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BB4EEC8-F194-451E-25FA-711097BD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30890"/>
          </a:xfrm>
        </p:spPr>
        <p:txBody>
          <a:bodyPr/>
          <a:lstStyle/>
          <a:p>
            <a:r>
              <a:rPr lang="pt-PT" dirty="0"/>
              <a:t>foi construída sobre o </a:t>
            </a:r>
            <a:r>
              <a:rPr lang="pt-PT" dirty="0" err="1"/>
              <a:t>Matplotlib</a:t>
            </a:r>
            <a:r>
              <a:rPr lang="pt-PT" dirty="0"/>
              <a:t> por Michael </a:t>
            </a:r>
            <a:r>
              <a:rPr lang="pt-PT" dirty="0" err="1"/>
              <a:t>Waskom</a:t>
            </a:r>
            <a:r>
              <a:rPr lang="pt-PT" dirty="0"/>
              <a:t> em 2012.</a:t>
            </a:r>
          </a:p>
          <a:p>
            <a:endParaRPr lang="pt-PT" dirty="0"/>
          </a:p>
          <a:p>
            <a:r>
              <a:rPr lang="pt-PT" dirty="0"/>
              <a:t>é uma biblioteca de visualização estatística de dados.</a:t>
            </a:r>
          </a:p>
          <a:p>
            <a:endParaRPr lang="pt-PT" dirty="0"/>
          </a:p>
          <a:p>
            <a:r>
              <a:rPr lang="pt-PT" dirty="0"/>
              <a:t>fornece uma API de alto nível para criar gráficos estatísticos.</a:t>
            </a:r>
          </a:p>
          <a:p>
            <a:pPr marL="0" indent="0">
              <a:buNone/>
            </a:pPr>
            <a:endParaRPr lang="pt-PT" dirty="0"/>
          </a:p>
          <a:p>
            <a:r>
              <a:rPr lang="pt-PT" dirty="0"/>
              <a:t>Cria gráficos atrativos em interação com Python.</a:t>
            </a:r>
          </a:p>
        </p:txBody>
      </p:sp>
    </p:spTree>
    <p:extLst>
      <p:ext uri="{BB962C8B-B14F-4D97-AF65-F5344CB8AC3E}">
        <p14:creationId xmlns:p14="http://schemas.microsoft.com/office/powerpoint/2010/main" val="308053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ED4A-B6A4-029B-2C88-D6FA0370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16BEA-2732-C987-0A71-2A570B6D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Principais características do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Seaborn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047A974-B77F-0132-1874-29EEC417C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989739"/>
          </a:xfrm>
        </p:spPr>
        <p:txBody>
          <a:bodyPr>
            <a:normAutofit/>
          </a:bodyPr>
          <a:lstStyle/>
          <a:p>
            <a:r>
              <a:rPr lang="pt-PT" dirty="0"/>
              <a:t>1.	Tipos de gráficos especializados para dados estatísticos.</a:t>
            </a:r>
          </a:p>
          <a:p>
            <a:r>
              <a:rPr lang="pt-PT" dirty="0"/>
              <a:t>2.	Opções de temas visuais como </a:t>
            </a:r>
            <a:r>
              <a:rPr lang="pt-PT" dirty="0" err="1"/>
              <a:t>dferentes</a:t>
            </a:r>
            <a:r>
              <a:rPr lang="pt-PT" dirty="0"/>
              <a:t> tipos de grelha.</a:t>
            </a:r>
          </a:p>
          <a:p>
            <a:r>
              <a:rPr lang="pt-PT" dirty="0"/>
              <a:t>3.	Ferramentas para visualizar relações de dados.</a:t>
            </a:r>
          </a:p>
          <a:p>
            <a:r>
              <a:rPr lang="pt-PT" dirty="0"/>
              <a:t>4.	Integração acelerante com pandas </a:t>
            </a:r>
            <a:r>
              <a:rPr lang="pt-PT" dirty="0" err="1"/>
              <a:t>DataFrames</a:t>
            </a:r>
            <a:r>
              <a:rPr lang="pt-PT" dirty="0"/>
              <a:t> para gráficos.</a:t>
            </a:r>
          </a:p>
          <a:p>
            <a:r>
              <a:rPr lang="pt-PT" dirty="0"/>
              <a:t>5.	Opções de paleta de cores como </a:t>
            </a:r>
            <a:r>
              <a:rPr lang="pt-PT" dirty="0" err="1"/>
              <a:t>color_palette</a:t>
            </a:r>
            <a:r>
              <a:rPr lang="pt-PT" dirty="0"/>
              <a:t>().</a:t>
            </a:r>
          </a:p>
          <a:p>
            <a:r>
              <a:rPr lang="pt-PT" dirty="0"/>
              <a:t>6.	Opções para controlar a estética das figuras como </a:t>
            </a:r>
            <a:r>
              <a:rPr lang="pt-PT" dirty="0" err="1"/>
              <a:t>despine</a:t>
            </a:r>
            <a:r>
              <a:rPr lang="pt-PT" dirty="0"/>
              <a:t>().</a:t>
            </a:r>
          </a:p>
          <a:p>
            <a:r>
              <a:rPr lang="pt-PT" dirty="0"/>
              <a:t>7.	Utilidades para visualizar modelos de regressão linear.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25548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BC601-EBB8-7467-57DE-579514BD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42AFA-CFAC-8EC6-E5B8-4843537C8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" b="0" i="0" u="none" strike="noStrike" baseline="0" dirty="0">
                <a:latin typeface="Times New Roman" panose="02020603050405020304" pitchFamily="18" charset="0"/>
              </a:rPr>
              <a:t>Seaborn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E58EAE9-DA0A-2206-DF35-E161A85FD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t-PT" dirty="0"/>
              <a:t>Exemplo de </a:t>
            </a:r>
            <a:r>
              <a:rPr lang="pt-PT" dirty="0" err="1"/>
              <a:t>histplot</a:t>
            </a:r>
            <a:r>
              <a:rPr lang="pt-PT" dirty="0"/>
              <a:t> criado com </a:t>
            </a:r>
            <a:r>
              <a:rPr lang="pt-PT" dirty="0" err="1"/>
              <a:t>Seaborn</a:t>
            </a:r>
            <a:r>
              <a:rPr lang="pt-PT" dirty="0"/>
              <a:t>: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6B27DC-9BB6-1D4E-035A-92D6FC701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34" y="2613245"/>
            <a:ext cx="7449590" cy="2972215"/>
          </a:xfrm>
          <a:prstGeom prst="rect">
            <a:avLst/>
          </a:prstGeom>
        </p:spPr>
      </p:pic>
      <p:pic>
        <p:nvPicPr>
          <p:cNvPr id="8" name="Imagem 7" descr="seaborn-distplot">
            <a:extLst>
              <a:ext uri="{FF2B5EF4-FFF2-40B4-BE49-F238E27FC236}">
                <a16:creationId xmlns:a16="http://schemas.microsoft.com/office/drawing/2014/main" id="{0CEA08B5-05FA-C0F6-56C5-A2AB0BA2F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628" y="2613245"/>
            <a:ext cx="4060371" cy="3283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730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6D8DF-2EFB-560C-D835-0D70F306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FE459-6707-C84F-8D31-4FA206A8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Exercícios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Seaborn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F454A68-BBAB-E6EE-4C7C-80E9DC688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989739"/>
          </a:xfrm>
        </p:spPr>
        <p:txBody>
          <a:bodyPr>
            <a:normAutofit/>
          </a:bodyPr>
          <a:lstStyle/>
          <a:p>
            <a:r>
              <a:rPr lang="pt-PT" dirty="0"/>
              <a:t>1.	Tipos de gráficos especializados para dados estatísticos.</a:t>
            </a:r>
          </a:p>
          <a:p>
            <a:r>
              <a:rPr lang="pt-PT" dirty="0"/>
              <a:t>2.	Opções de temas visuais como </a:t>
            </a:r>
            <a:r>
              <a:rPr lang="pt-PT" dirty="0" err="1"/>
              <a:t>dferentes</a:t>
            </a:r>
            <a:r>
              <a:rPr lang="pt-PT" dirty="0"/>
              <a:t> tipos de grelha.</a:t>
            </a:r>
          </a:p>
          <a:p>
            <a:r>
              <a:rPr lang="pt-PT" dirty="0"/>
              <a:t>3.	Ferramentas para visualizar relações de dados.</a:t>
            </a:r>
          </a:p>
          <a:p>
            <a:r>
              <a:rPr lang="pt-PT" dirty="0"/>
              <a:t>4.	Integração acelerante com pandas </a:t>
            </a:r>
            <a:r>
              <a:rPr lang="pt-PT" dirty="0" err="1"/>
              <a:t>DataFrames</a:t>
            </a:r>
            <a:r>
              <a:rPr lang="pt-PT" dirty="0"/>
              <a:t> para gráficos.</a:t>
            </a:r>
          </a:p>
          <a:p>
            <a:r>
              <a:rPr lang="pt-PT" dirty="0"/>
              <a:t>5.	Opções de paleta de cores como </a:t>
            </a:r>
            <a:r>
              <a:rPr lang="pt-PT" dirty="0" err="1"/>
              <a:t>color_palette</a:t>
            </a:r>
            <a:r>
              <a:rPr lang="pt-PT" dirty="0"/>
              <a:t>().</a:t>
            </a:r>
          </a:p>
          <a:p>
            <a:r>
              <a:rPr lang="pt-PT" dirty="0"/>
              <a:t>6.	Opções para controlar a estética das figuras como </a:t>
            </a:r>
            <a:r>
              <a:rPr lang="pt-PT" dirty="0" err="1"/>
              <a:t>despine</a:t>
            </a:r>
            <a:r>
              <a:rPr lang="pt-PT" dirty="0"/>
              <a:t>().</a:t>
            </a:r>
          </a:p>
          <a:p>
            <a:r>
              <a:rPr lang="pt-PT" dirty="0"/>
              <a:t>7.	Utilidades para visualizar modelos de regressão linear.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81304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9E66-8204-5D91-182C-551D282E9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E5571-6C9A-27DA-98C3-96D5DF231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Plotly</a:t>
            </a:r>
            <a:r>
              <a:rPr lang="pt-PT" dirty="0">
                <a:latin typeface="Times New Roman" panose="02020603050405020304" pitchFamily="18" charset="0"/>
              </a:rPr>
              <a:t>-</a:t>
            </a:r>
            <a:r>
              <a:rPr lang="pt-PT" dirty="0"/>
              <a:t> biblioteca interativa de gráficos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61F857E-F144-58AC-22D3-588766D0C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971" y="1617889"/>
            <a:ext cx="11462658" cy="4989739"/>
          </a:xfrm>
        </p:spPr>
        <p:txBody>
          <a:bodyPr>
            <a:normAutofit lnSpcReduction="10000"/>
          </a:bodyPr>
          <a:lstStyle/>
          <a:p>
            <a:r>
              <a:rPr lang="pt-PT" dirty="0"/>
              <a:t>1.	Suporte para vasta gama de tipos de gráficos interativos.</a:t>
            </a:r>
          </a:p>
          <a:p>
            <a:r>
              <a:rPr lang="pt-PT" dirty="0"/>
              <a:t>2.	Múltiplas opções para gráficos.</a:t>
            </a:r>
          </a:p>
          <a:p>
            <a:r>
              <a:rPr lang="pt-PT" dirty="0"/>
              <a:t>3.	Ferramentas interativas como zoom e panorâmica.</a:t>
            </a:r>
          </a:p>
          <a:p>
            <a:r>
              <a:rPr lang="pt-PT" dirty="0"/>
              <a:t>4.	Escovagem ligada e sincronização de vistas entre gráficos.</a:t>
            </a:r>
          </a:p>
          <a:p>
            <a:r>
              <a:rPr lang="pt-PT" dirty="0"/>
              <a:t>5.	Gráficos 3D e geográficos como superfícies, e malhas.</a:t>
            </a:r>
          </a:p>
          <a:p>
            <a:r>
              <a:rPr lang="pt-PT" dirty="0"/>
              <a:t>6.	</a:t>
            </a:r>
            <a:r>
              <a:rPr lang="pt-PT" dirty="0" err="1"/>
              <a:t>Renderizar</a:t>
            </a:r>
            <a:r>
              <a:rPr lang="pt-PT" dirty="0"/>
              <a:t> gráficos em </a:t>
            </a:r>
            <a:r>
              <a:rPr lang="pt-PT" dirty="0" err="1"/>
              <a:t>notebooks</a:t>
            </a:r>
            <a:r>
              <a:rPr lang="pt-PT" dirty="0"/>
              <a:t> </a:t>
            </a:r>
            <a:r>
              <a:rPr lang="pt-PT" dirty="0" err="1"/>
              <a:t>Jupyter</a:t>
            </a:r>
            <a:r>
              <a:rPr lang="pt-PT" dirty="0"/>
              <a:t> ou exportar como HTML.</a:t>
            </a:r>
          </a:p>
          <a:p>
            <a:r>
              <a:rPr lang="pt-PT" dirty="0"/>
              <a:t>7.	Suporte amplo a linguagens incluindo Python, R, MATLAB e </a:t>
            </a:r>
            <a:r>
              <a:rPr lang="pt-PT" dirty="0" err="1"/>
              <a:t>Argi</a:t>
            </a:r>
            <a:r>
              <a:rPr lang="pt-PT" dirty="0"/>
              <a:t>.</a:t>
            </a:r>
          </a:p>
          <a:p>
            <a:r>
              <a:rPr lang="pt-PT" dirty="0"/>
              <a:t>8.	Objetos de grafo com atributos como data, para manipular gráficos.</a:t>
            </a:r>
          </a:p>
          <a:p>
            <a:r>
              <a:rPr lang="pt-PT" dirty="0"/>
              <a:t>9.	Grandes capacidades de gestão de conjuntos de dados em web.</a:t>
            </a:r>
          </a:p>
          <a:p>
            <a:r>
              <a:rPr lang="pt-PT" dirty="0"/>
              <a:t>10.	Opções para adicionar formas, imagens e animações aos gráficos.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6925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982E-3536-61E7-5D86-8A4099D7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78E97-DA27-27C3-7FB0-ACAD97FC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" dirty="0">
                <a:latin typeface="Times New Roman" panose="02020603050405020304" pitchFamily="18" charset="0"/>
              </a:rPr>
              <a:t>Plotly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6B8EB4D-27A8-5A56-7151-03196E1B7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t-PT" dirty="0"/>
              <a:t>Exemplo de </a:t>
            </a:r>
            <a:r>
              <a:rPr lang="pt-PT" dirty="0" err="1"/>
              <a:t>histplot</a:t>
            </a:r>
            <a:r>
              <a:rPr lang="pt-PT" dirty="0"/>
              <a:t> criado com </a:t>
            </a:r>
            <a:r>
              <a:rPr lang="pt-PT" dirty="0" err="1"/>
              <a:t>Plotly</a:t>
            </a:r>
            <a:r>
              <a:rPr lang="pt-PT" dirty="0"/>
              <a:t>: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09FE5C7-0082-0539-F0F2-8CC3BAC79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84" y="2343371"/>
            <a:ext cx="10193173" cy="1629002"/>
          </a:xfrm>
          <a:prstGeom prst="rect">
            <a:avLst/>
          </a:prstGeom>
        </p:spPr>
      </p:pic>
      <p:pic>
        <p:nvPicPr>
          <p:cNvPr id="6" name="Imagem 5" descr="plotly">
            <a:extLst>
              <a:ext uri="{FF2B5EF4-FFF2-40B4-BE49-F238E27FC236}">
                <a16:creationId xmlns:a16="http://schemas.microsoft.com/office/drawing/2014/main" id="{7CC176C5-4714-1B2B-5BA2-D30D6B3E6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84" y="4001294"/>
            <a:ext cx="9653572" cy="24542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2208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F8EF-7E6B-EC2B-FDBB-C89705CE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8E820-FEED-51AE-691F-C65F3115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161697"/>
            <a:ext cx="11538858" cy="1325563"/>
          </a:xfrm>
        </p:spPr>
        <p:txBody>
          <a:bodyPr>
            <a:normAutofit/>
          </a:bodyPr>
          <a:lstStyle/>
          <a:p>
            <a:r>
              <a:rPr lang="pt-PT" sz="4000" dirty="0" err="1"/>
              <a:t>Bokeh</a:t>
            </a:r>
            <a:r>
              <a:rPr lang="pt-PT" sz="4000" dirty="0"/>
              <a:t>- biblioteca Python para visualizações interativas</a:t>
            </a:r>
            <a:endParaRPr lang="en" sz="4000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E963D16-676B-FA3F-A68E-6F3F4A8E8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971" y="1617889"/>
            <a:ext cx="11462658" cy="4989739"/>
          </a:xfrm>
        </p:spPr>
        <p:txBody>
          <a:bodyPr>
            <a:normAutofit lnSpcReduction="10000"/>
          </a:bodyPr>
          <a:lstStyle/>
          <a:p>
            <a:r>
              <a:rPr lang="pt-PT" dirty="0"/>
              <a:t>1.	Interface versátil de plotagem para construir gráficos interativos.</a:t>
            </a:r>
          </a:p>
          <a:p>
            <a:r>
              <a:rPr lang="pt-PT" dirty="0"/>
              <a:t>2.	Suporte para grandes conjuntos de dados e dados em </a:t>
            </a:r>
            <a:r>
              <a:rPr lang="pt-PT" dirty="0" err="1"/>
              <a:t>streaming</a:t>
            </a:r>
            <a:r>
              <a:rPr lang="pt-PT" dirty="0"/>
              <a:t>.</a:t>
            </a:r>
          </a:p>
          <a:p>
            <a:r>
              <a:rPr lang="pt-PT" dirty="0"/>
              <a:t>3.	Sistema flexível de glifos para gráficos personalizados.</a:t>
            </a:r>
          </a:p>
          <a:p>
            <a:r>
              <a:rPr lang="pt-PT" dirty="0"/>
              <a:t>4.	Ferramentas para adicionar interações de </a:t>
            </a:r>
            <a:r>
              <a:rPr lang="pt-PT" dirty="0" err="1"/>
              <a:t>hover</a:t>
            </a:r>
            <a:r>
              <a:rPr lang="pt-PT" dirty="0"/>
              <a:t>, seleção ou zoom.</a:t>
            </a:r>
          </a:p>
          <a:p>
            <a:r>
              <a:rPr lang="pt-PT" dirty="0"/>
              <a:t>5.	Troca de panorâmicas e deslizes ligados pelos enredos.</a:t>
            </a:r>
          </a:p>
          <a:p>
            <a:r>
              <a:rPr lang="pt-PT" dirty="0"/>
              <a:t>6.	Barra de ferramentas personalizável e </a:t>
            </a:r>
            <a:r>
              <a:rPr lang="pt-PT" dirty="0" err="1"/>
              <a:t>widgets</a:t>
            </a:r>
            <a:r>
              <a:rPr lang="pt-PT" dirty="0"/>
              <a:t> para filtragem, seleção.</a:t>
            </a:r>
          </a:p>
          <a:p>
            <a:r>
              <a:rPr lang="pt-PT" dirty="0"/>
              <a:t>7.	Opções para adicionar animações a gráficos.</a:t>
            </a:r>
          </a:p>
          <a:p>
            <a:r>
              <a:rPr lang="pt-PT" dirty="0"/>
              <a:t>8.	Exporte gráficos como imagens estáticas ou aplicações web interativas.</a:t>
            </a:r>
          </a:p>
          <a:p>
            <a:r>
              <a:rPr lang="pt-PT" dirty="0"/>
              <a:t>9.	Liga gráficos a fontes de dados em tempo real.</a:t>
            </a:r>
          </a:p>
          <a:p>
            <a:r>
              <a:rPr lang="pt-PT" dirty="0"/>
              <a:t>10.	Integrar e incorporar gráficos nas aplicações web </a:t>
            </a:r>
            <a:r>
              <a:rPr lang="pt-PT" dirty="0" err="1"/>
              <a:t>Flask</a:t>
            </a:r>
            <a:r>
              <a:rPr lang="pt-PT" dirty="0"/>
              <a:t> e </a:t>
            </a:r>
            <a:r>
              <a:rPr lang="pt-PT" dirty="0" err="1"/>
              <a:t>Django</a:t>
            </a:r>
            <a:r>
              <a:rPr lang="pt-PT" dirty="0"/>
              <a:t>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85948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6B7C-E143-855D-7ECF-C825F5833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7B4EE-EBDC-7A58-06F8-E7B3F1866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" dirty="0">
                <a:latin typeface="Times New Roman" panose="02020603050405020304" pitchFamily="18" charset="0"/>
              </a:rPr>
              <a:t>Bokeh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A6D0F7D-1C21-51A1-1B91-D336C542C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t-PT" dirty="0"/>
              <a:t>Exemplo de gráfico interativo de onda senoidal usando </a:t>
            </a:r>
            <a:r>
              <a:rPr lang="pt-PT" dirty="0" err="1"/>
              <a:t>Bokeh</a:t>
            </a:r>
            <a:r>
              <a:rPr lang="pt-PT" dirty="0"/>
              <a:t>: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EDDD4F-5DBA-9B32-E952-1863A9C9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9" y="2423589"/>
            <a:ext cx="7554379" cy="3753374"/>
          </a:xfrm>
          <a:prstGeom prst="rect">
            <a:avLst/>
          </a:prstGeom>
        </p:spPr>
      </p:pic>
      <p:pic>
        <p:nvPicPr>
          <p:cNvPr id="8" name="Imagem 7" descr="bokeh">
            <a:extLst>
              <a:ext uri="{FF2B5EF4-FFF2-40B4-BE49-F238E27FC236}">
                <a16:creationId xmlns:a16="http://schemas.microsoft.com/office/drawing/2014/main" id="{712BB6CC-5142-233B-A54A-82CD1A73E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311" y="2423589"/>
            <a:ext cx="3604816" cy="3650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0852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8C0B0-534B-7264-148A-50191389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DC007-E7B1-C2DF-1180-EC2AEED6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3 Exercícios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49988D5-012F-9D88-19D8-0D022B95D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589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Exercício</a:t>
            </a:r>
            <a:r>
              <a:rPr lang="en-US" sz="2000" dirty="0"/>
              <a:t> Seaborn: Usa o </a:t>
            </a:r>
            <a:r>
              <a:rPr lang="en-US" sz="2000" dirty="0" err="1"/>
              <a:t>ficheiro</a:t>
            </a:r>
            <a:r>
              <a:rPr lang="en-US" sz="2000" dirty="0"/>
              <a:t> "mpg_epa.csv" </a:t>
            </a:r>
            <a:r>
              <a:rPr lang="en-US" sz="2000" dirty="0" err="1"/>
              <a:t>fornecido</a:t>
            </a:r>
            <a:r>
              <a:rPr lang="en-US" sz="2000" dirty="0"/>
              <a:t> com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enunciado</a:t>
            </a:r>
            <a:r>
              <a:rPr lang="en-US" sz="2000" dirty="0"/>
              <a:t>. O </a:t>
            </a:r>
            <a:r>
              <a:rPr lang="en-US" sz="2000" dirty="0" err="1"/>
              <a:t>ficheiro</a:t>
            </a:r>
            <a:r>
              <a:rPr lang="en-US" sz="2000" dirty="0"/>
              <a:t> </a:t>
            </a:r>
            <a:r>
              <a:rPr lang="en-US" sz="2000" dirty="0" err="1"/>
              <a:t>contém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coluna</a:t>
            </a:r>
            <a:r>
              <a:rPr lang="en-US" sz="2000" dirty="0"/>
              <a:t> mpg com </a:t>
            </a:r>
            <a:r>
              <a:rPr lang="en-US" sz="2000" dirty="0" err="1"/>
              <a:t>valores</a:t>
            </a:r>
            <a:r>
              <a:rPr lang="en-US" sz="2000" dirty="0"/>
              <a:t> reais de </a:t>
            </a:r>
            <a:r>
              <a:rPr lang="en-US" sz="2000" dirty="0" err="1"/>
              <a:t>eficiência</a:t>
            </a:r>
            <a:r>
              <a:rPr lang="en-US" sz="2000" dirty="0"/>
              <a:t> </a:t>
            </a:r>
            <a:r>
              <a:rPr lang="en-US" sz="2000" dirty="0" err="1"/>
              <a:t>energética</a:t>
            </a:r>
            <a:r>
              <a:rPr lang="en-US" sz="2000" dirty="0"/>
              <a:t> de </a:t>
            </a:r>
            <a:r>
              <a:rPr lang="en-US" sz="2000" dirty="0" err="1"/>
              <a:t>veículos</a:t>
            </a:r>
            <a:r>
              <a:rPr lang="en-US" sz="2000" dirty="0"/>
              <a:t> (EPA). </a:t>
            </a:r>
            <a:r>
              <a:rPr lang="en-US" sz="2000" dirty="0" err="1"/>
              <a:t>Cria</a:t>
            </a:r>
            <a:r>
              <a:rPr lang="en-US" sz="2000" dirty="0"/>
              <a:t> um </a:t>
            </a:r>
            <a:r>
              <a:rPr lang="en-US" sz="2000" dirty="0" err="1"/>
              <a:t>programa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Python que utilize a </a:t>
            </a:r>
            <a:r>
              <a:rPr lang="en-US" sz="2000" dirty="0" err="1"/>
              <a:t>biblioteca</a:t>
            </a:r>
            <a:r>
              <a:rPr lang="en-US" sz="2000" dirty="0"/>
              <a:t> Seaborn para </a:t>
            </a:r>
            <a:r>
              <a:rPr lang="en-US" sz="2000" dirty="0" err="1"/>
              <a:t>gerar</a:t>
            </a:r>
            <a:r>
              <a:rPr lang="en-US" sz="2000" dirty="0"/>
              <a:t> um </a:t>
            </a:r>
            <a:r>
              <a:rPr lang="en-US" sz="2000" dirty="0" err="1"/>
              <a:t>histograma</a:t>
            </a:r>
            <a:r>
              <a:rPr lang="en-US" sz="2000" dirty="0"/>
              <a:t> </a:t>
            </a:r>
            <a:r>
              <a:rPr lang="en-US" sz="2000" dirty="0" err="1"/>
              <a:t>estilizado</a:t>
            </a:r>
            <a:r>
              <a:rPr lang="en-US" sz="2000" dirty="0"/>
              <a:t> </a:t>
            </a:r>
            <a:r>
              <a:rPr lang="en-US" sz="2000" dirty="0" err="1"/>
              <a:t>mostrando</a:t>
            </a:r>
            <a:r>
              <a:rPr lang="en-US" sz="2000" dirty="0"/>
              <a:t> a </a:t>
            </a:r>
            <a:r>
              <a:rPr lang="en-US" sz="2000" dirty="0" err="1"/>
              <a:t>distribuição</a:t>
            </a:r>
            <a:r>
              <a:rPr lang="en-US" sz="2000" dirty="0"/>
              <a:t> real de MPG.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Exercício</a:t>
            </a:r>
            <a:r>
              <a:rPr lang="en-US" sz="2000" dirty="0"/>
              <a:t> </a:t>
            </a:r>
            <a:r>
              <a:rPr lang="en-US" sz="2000" dirty="0" err="1"/>
              <a:t>Plotly</a:t>
            </a:r>
            <a:r>
              <a:rPr lang="en-US" sz="2000" dirty="0"/>
              <a:t>: </a:t>
            </a:r>
            <a:r>
              <a:rPr lang="en-US" sz="2000" dirty="0" err="1"/>
              <a:t>Usa</a:t>
            </a:r>
            <a:r>
              <a:rPr lang="en-US" sz="2000" dirty="0"/>
              <a:t> o </a:t>
            </a:r>
            <a:r>
              <a:rPr lang="en-US" sz="2000" dirty="0" err="1"/>
              <a:t>ficheiro</a:t>
            </a:r>
            <a:r>
              <a:rPr lang="en-US" sz="2000" dirty="0"/>
              <a:t> "pinguins_palmer.csv", </a:t>
            </a:r>
            <a:r>
              <a:rPr lang="en-US" sz="2000" dirty="0" err="1"/>
              <a:t>incluído</a:t>
            </a:r>
            <a:r>
              <a:rPr lang="en-US" sz="2000" dirty="0"/>
              <a:t> com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enunciado</a:t>
            </a:r>
            <a:r>
              <a:rPr lang="en-US" sz="2000" dirty="0"/>
              <a:t>. O </a:t>
            </a:r>
            <a:r>
              <a:rPr lang="en-US" sz="2000" dirty="0" err="1"/>
              <a:t>ficheiro</a:t>
            </a:r>
            <a:r>
              <a:rPr lang="en-US" sz="2000" dirty="0"/>
              <a:t> </a:t>
            </a:r>
            <a:r>
              <a:rPr lang="en-US" sz="2000" dirty="0" err="1"/>
              <a:t>contém</a:t>
            </a:r>
            <a:r>
              <a:rPr lang="en-US" sz="2000" dirty="0"/>
              <a:t> </a:t>
            </a:r>
            <a:r>
              <a:rPr lang="en-US" sz="2000" dirty="0" err="1"/>
              <a:t>três</a:t>
            </a:r>
            <a:r>
              <a:rPr lang="en-US" sz="2000" dirty="0"/>
              <a:t> </a:t>
            </a:r>
            <a:r>
              <a:rPr lang="en-US" sz="2000" dirty="0" err="1"/>
              <a:t>colunas</a:t>
            </a:r>
            <a:r>
              <a:rPr lang="en-US" sz="2000" dirty="0"/>
              <a:t>: </a:t>
            </a:r>
            <a:r>
              <a:rPr lang="en-US" sz="2000" dirty="0" err="1"/>
              <a:t>massa</a:t>
            </a:r>
            <a:r>
              <a:rPr lang="en-US" sz="2000" dirty="0"/>
              <a:t>, </a:t>
            </a:r>
            <a:r>
              <a:rPr lang="en-US" sz="2000" dirty="0" err="1"/>
              <a:t>barbatana</a:t>
            </a:r>
            <a:r>
              <a:rPr lang="en-US" sz="2000" dirty="0"/>
              <a:t> e </a:t>
            </a:r>
            <a:r>
              <a:rPr lang="en-US" sz="2000" dirty="0" err="1"/>
              <a:t>especie</a:t>
            </a:r>
            <a:r>
              <a:rPr lang="en-US" sz="2000" dirty="0"/>
              <a:t>, com dados </a:t>
            </a:r>
            <a:r>
              <a:rPr lang="en-US" sz="2000" dirty="0" err="1"/>
              <a:t>reais</a:t>
            </a:r>
            <a:r>
              <a:rPr lang="en-US" sz="2000" dirty="0"/>
              <a:t> do Palmer Station Antarctica. </a:t>
            </a:r>
            <a:r>
              <a:rPr lang="en-US" sz="2000" dirty="0" err="1"/>
              <a:t>Cria</a:t>
            </a:r>
            <a:r>
              <a:rPr lang="en-US" sz="2000" dirty="0"/>
              <a:t> um </a:t>
            </a:r>
            <a:r>
              <a:rPr lang="en-US" sz="2000" dirty="0" err="1"/>
              <a:t>programa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Python que </a:t>
            </a:r>
            <a:r>
              <a:rPr lang="en-US" sz="2000" dirty="0" err="1"/>
              <a:t>carregue</a:t>
            </a:r>
            <a:r>
              <a:rPr lang="en-US" sz="2000" dirty="0"/>
              <a:t> o </a:t>
            </a:r>
            <a:r>
              <a:rPr lang="en-US" sz="2000" dirty="0" err="1"/>
              <a:t>ficheiro</a:t>
            </a:r>
            <a:r>
              <a:rPr lang="en-US" sz="2000" dirty="0"/>
              <a:t> e </a:t>
            </a:r>
            <a:r>
              <a:rPr lang="en-US" sz="2000" dirty="0" err="1"/>
              <a:t>produza</a:t>
            </a:r>
            <a:r>
              <a:rPr lang="en-US" sz="2000" dirty="0"/>
              <a:t> um scatterplot </a:t>
            </a:r>
            <a:r>
              <a:rPr lang="en-US" sz="2000" dirty="0" err="1"/>
              <a:t>colorido</a:t>
            </a:r>
            <a:r>
              <a:rPr lang="en-US" sz="2000" dirty="0"/>
              <a:t> </a:t>
            </a:r>
            <a:r>
              <a:rPr lang="en-US" sz="2000" dirty="0" err="1"/>
              <a:t>usando</a:t>
            </a:r>
            <a:r>
              <a:rPr lang="en-US" sz="2000" dirty="0"/>
              <a:t> </a:t>
            </a:r>
            <a:r>
              <a:rPr lang="en-US" sz="2000" dirty="0" err="1"/>
              <a:t>plotly</a:t>
            </a:r>
            <a:r>
              <a:rPr lang="en-US" sz="2000" dirty="0"/>
              <a:t> </a:t>
            </a:r>
            <a:r>
              <a:rPr lang="en-US" sz="2000" dirty="0" err="1"/>
              <a:t>comparando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 corporal e </a:t>
            </a:r>
            <a:r>
              <a:rPr lang="en-US" sz="2000" dirty="0" err="1"/>
              <a:t>comprimento</a:t>
            </a:r>
            <a:r>
              <a:rPr lang="en-US" sz="2000" dirty="0"/>
              <a:t> da </a:t>
            </a:r>
            <a:r>
              <a:rPr lang="en-US" sz="2000" dirty="0" err="1"/>
              <a:t>barbatana</a:t>
            </a:r>
            <a:r>
              <a:rPr lang="en-US" sz="2000" dirty="0"/>
              <a:t> por </a:t>
            </a:r>
            <a:r>
              <a:rPr lang="en-US" sz="2000" dirty="0" err="1"/>
              <a:t>espécie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Exercício</a:t>
            </a:r>
            <a:r>
              <a:rPr lang="en-US" sz="2000" dirty="0"/>
              <a:t> Bokeh: </a:t>
            </a:r>
            <a:r>
              <a:rPr lang="en-US" sz="2000" dirty="0" err="1"/>
              <a:t>Usa</a:t>
            </a:r>
            <a:r>
              <a:rPr lang="en-US" sz="2000" dirty="0"/>
              <a:t> o </a:t>
            </a:r>
            <a:r>
              <a:rPr lang="en-US" sz="2000" dirty="0" err="1"/>
              <a:t>ficheiro</a:t>
            </a:r>
            <a:r>
              <a:rPr lang="en-US" sz="2000" dirty="0"/>
              <a:t> "co2_maunaloa.csv" </a:t>
            </a:r>
            <a:r>
              <a:rPr lang="en-US" sz="2000" dirty="0" err="1"/>
              <a:t>fornecido</a:t>
            </a:r>
            <a:r>
              <a:rPr lang="en-US" sz="2000" dirty="0"/>
              <a:t> com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enunciado</a:t>
            </a:r>
            <a:r>
              <a:rPr lang="en-US" sz="2000" dirty="0"/>
              <a:t>. O </a:t>
            </a:r>
            <a:r>
              <a:rPr lang="en-US" sz="2000" dirty="0" err="1"/>
              <a:t>ficheiro</a:t>
            </a:r>
            <a:r>
              <a:rPr lang="en-US" sz="2000" dirty="0"/>
              <a:t> </a:t>
            </a:r>
            <a:r>
              <a:rPr lang="en-US" sz="2000" dirty="0" err="1"/>
              <a:t>contém</a:t>
            </a:r>
            <a:r>
              <a:rPr lang="en-US" sz="2000" dirty="0"/>
              <a:t> </a:t>
            </a:r>
            <a:r>
              <a:rPr lang="en-US" sz="2000" dirty="0" err="1"/>
              <a:t>duas</a:t>
            </a:r>
            <a:r>
              <a:rPr lang="en-US" sz="2000" dirty="0"/>
              <a:t> </a:t>
            </a:r>
            <a:r>
              <a:rPr lang="en-US" sz="2000" dirty="0" err="1"/>
              <a:t>colunas</a:t>
            </a:r>
            <a:r>
              <a:rPr lang="en-US" sz="2000" dirty="0"/>
              <a:t>: </a:t>
            </a:r>
            <a:r>
              <a:rPr lang="en-US" sz="2000" dirty="0" err="1"/>
              <a:t>ano</a:t>
            </a:r>
            <a:r>
              <a:rPr lang="en-US" sz="2000" dirty="0"/>
              <a:t> e ppm, com dados </a:t>
            </a:r>
            <a:r>
              <a:rPr lang="en-US" sz="2000" dirty="0" err="1"/>
              <a:t>reais</a:t>
            </a:r>
            <a:r>
              <a:rPr lang="en-US" sz="2000" dirty="0"/>
              <a:t> do </a:t>
            </a:r>
            <a:r>
              <a:rPr lang="en-US" sz="2000" dirty="0" err="1"/>
              <a:t>observatório</a:t>
            </a:r>
            <a:r>
              <a:rPr lang="en-US" sz="2000" dirty="0"/>
              <a:t> de Mauna Loa (NOAA). </a:t>
            </a:r>
            <a:r>
              <a:rPr lang="en-US" sz="2000" dirty="0" err="1"/>
              <a:t>Cria</a:t>
            </a:r>
            <a:r>
              <a:rPr lang="en-US" sz="2000" dirty="0"/>
              <a:t> um </a:t>
            </a:r>
            <a:r>
              <a:rPr lang="en-US" sz="2000" dirty="0" err="1"/>
              <a:t>programa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Python que utilize a </a:t>
            </a:r>
            <a:r>
              <a:rPr lang="en-US" sz="2000" dirty="0" err="1"/>
              <a:t>biblioteca</a:t>
            </a:r>
            <a:r>
              <a:rPr lang="en-US" sz="2000" dirty="0"/>
              <a:t> Bokeh para </a:t>
            </a:r>
            <a:r>
              <a:rPr lang="en-US" sz="2000" dirty="0" err="1"/>
              <a:t>gerar</a:t>
            </a:r>
            <a:r>
              <a:rPr lang="en-US" sz="2000" dirty="0"/>
              <a:t> um </a:t>
            </a:r>
            <a:r>
              <a:rPr lang="en-US" sz="2000" dirty="0" err="1"/>
              <a:t>gráfico</a:t>
            </a:r>
            <a:r>
              <a:rPr lang="en-US" sz="2000" dirty="0"/>
              <a:t> </a:t>
            </a:r>
            <a:r>
              <a:rPr lang="en-US" sz="2000" dirty="0" err="1"/>
              <a:t>interativo</a:t>
            </a:r>
            <a:r>
              <a:rPr lang="en-US" sz="2000" dirty="0"/>
              <a:t> </a:t>
            </a:r>
            <a:r>
              <a:rPr lang="en-US" sz="2000" dirty="0" err="1"/>
              <a:t>mostrando</a:t>
            </a:r>
            <a:r>
              <a:rPr lang="en-US" sz="2000" dirty="0"/>
              <a:t> a </a:t>
            </a:r>
            <a:r>
              <a:rPr lang="en-US" sz="2000" dirty="0" err="1"/>
              <a:t>evolução</a:t>
            </a:r>
            <a:r>
              <a:rPr lang="en-US" sz="2000" dirty="0"/>
              <a:t> do CO₂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longo</a:t>
            </a:r>
            <a:r>
              <a:rPr lang="en-US" sz="2000" dirty="0"/>
              <a:t> do tempo.</a:t>
            </a:r>
            <a:endParaRPr lang="pt-PT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pt-PT" sz="2000" dirty="0"/>
          </a:p>
          <a:p>
            <a:pPr marL="0" indent="0">
              <a:buNone/>
            </a:pP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3482049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FD86-EC72-BE21-B708-60D5E525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390A0-58A7-0635-FF4D-6CEACACA2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dirty="0">
                <a:latin typeface="Times New Roman" panose="02020603050405020304" pitchFamily="18" charset="0"/>
              </a:rPr>
              <a:t>R</a:t>
            </a:r>
            <a:r>
              <a:rPr lang="pt-PT" b="0" i="0" u="none" strike="noStrike" baseline="0" dirty="0">
                <a:latin typeface="Times New Roman" panose="02020603050405020304" pitchFamily="18" charset="0"/>
              </a:rPr>
              <a:t>esultado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Seaborn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D6341-6A66-5E9D-712F-142BE1CE8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58" y="1690688"/>
            <a:ext cx="6749142" cy="449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21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6A5D-90F1-8F61-CB83-600DE1B1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64796-7237-2314-8B17-B8612009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Solução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Seaborn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6ADEE3B-3CF2-B5CB-3A12-B5A28F2BC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874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br>
              <a:rPr lang="en-US" dirty="0"/>
            </a:br>
            <a:r>
              <a:rPr lang="en-US" dirty="0"/>
              <a:t>import pandas as pd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('mpg_epa.csv')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sns.histplot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['mpg'], </a:t>
            </a:r>
            <a:r>
              <a:rPr lang="en-US" dirty="0" err="1"/>
              <a:t>kde</a:t>
            </a:r>
            <a:r>
              <a:rPr lang="en-US" dirty="0"/>
              <a:t>=True, color='</a:t>
            </a:r>
            <a:r>
              <a:rPr lang="en-US" dirty="0" err="1"/>
              <a:t>skyblue</a:t>
            </a:r>
            <a:r>
              <a:rPr lang="en-US" dirty="0"/>
              <a:t>', </a:t>
            </a:r>
            <a:r>
              <a:rPr lang="en-US" dirty="0" err="1"/>
              <a:t>edgecolor</a:t>
            </a:r>
            <a:r>
              <a:rPr lang="en-US" dirty="0"/>
              <a:t>='black')</a:t>
            </a:r>
            <a:br>
              <a:rPr lang="en-US" dirty="0"/>
            </a:br>
            <a:r>
              <a:rPr lang="en-US" dirty="0" err="1"/>
              <a:t>plt.title</a:t>
            </a:r>
            <a:r>
              <a:rPr lang="en-US" dirty="0"/>
              <a:t>('</a:t>
            </a:r>
            <a:r>
              <a:rPr lang="en-US" dirty="0" err="1"/>
              <a:t>Distribuição</a:t>
            </a:r>
            <a:r>
              <a:rPr lang="en-US" dirty="0"/>
              <a:t> de MPG')</a:t>
            </a:r>
            <a:br>
              <a:rPr lang="en-US" dirty="0"/>
            </a:br>
            <a:r>
              <a:rPr lang="en-US" dirty="0" err="1"/>
              <a:t>plt.show</a:t>
            </a:r>
            <a:r>
              <a:rPr lang="en-US" dirty="0"/>
              <a:t>()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18113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7D4F-DD83-3FA4-EF09-9348D961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985FC8-D155-8E6D-142B-9F125641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Resultado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Plotly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7119363-3F4D-2E8A-76EC-1353B99FA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028" y="2536371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96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3D706-876C-DC86-6BEC-945F677C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8F35C-B8B2-B8C0-C37F-6F15F4854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Solução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Plotly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CFA38DD-C574-3AF9-3C04-CC75715C6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874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plotly.express</a:t>
            </a:r>
            <a:r>
              <a:rPr lang="en-US" dirty="0"/>
              <a:t> as </a:t>
            </a:r>
            <a:r>
              <a:rPr lang="en-US" dirty="0" err="1"/>
              <a:t>px</a:t>
            </a:r>
            <a:br>
              <a:rPr lang="en-US" dirty="0"/>
            </a:br>
            <a:r>
              <a:rPr lang="en-US" dirty="0"/>
              <a:t>import pandas as pd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('pinguins_palmer.csv')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fig = </a:t>
            </a:r>
            <a:r>
              <a:rPr lang="en-US" dirty="0" err="1"/>
              <a:t>px.scatter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x='</a:t>
            </a:r>
            <a:r>
              <a:rPr lang="en-US" dirty="0" err="1"/>
              <a:t>massa</a:t>
            </a:r>
            <a:r>
              <a:rPr lang="en-US" dirty="0"/>
              <a:t>', y='</a:t>
            </a:r>
            <a:r>
              <a:rPr lang="en-US" dirty="0" err="1"/>
              <a:t>barbatana</a:t>
            </a:r>
            <a:r>
              <a:rPr lang="en-US" dirty="0"/>
              <a:t>', color='</a:t>
            </a:r>
            <a:r>
              <a:rPr lang="en-US" dirty="0" err="1"/>
              <a:t>especie</a:t>
            </a:r>
            <a:r>
              <a:rPr lang="en-US" dirty="0"/>
              <a:t>', title='Pinguins')</a:t>
            </a:r>
            <a:br>
              <a:rPr lang="en-US" dirty="0"/>
            </a:br>
            <a:r>
              <a:rPr lang="en-US" dirty="0" err="1"/>
              <a:t>fig.show</a:t>
            </a:r>
            <a:r>
              <a:rPr lang="en-US" dirty="0"/>
              <a:t>()</a:t>
            </a:r>
            <a:br>
              <a:rPr lang="en-US" dirty="0"/>
            </a:b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01821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8F4C-7632-2E10-9E6B-DEC333C6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D45DC-DE21-6E14-9AE4-18CBC5FC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Resultado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Bokeh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8364BC1-C34B-00CB-2201-3B9C18B4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458" y="22098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28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64552-59B9-777E-7255-592A4487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73885-D3BA-2D78-7972-CCF846D9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PT" b="0" i="0" u="none" strike="noStrike" baseline="0" dirty="0">
                <a:latin typeface="Times New Roman" panose="02020603050405020304" pitchFamily="18" charset="0"/>
              </a:rPr>
              <a:t>Solução de Exercício de </a:t>
            </a:r>
            <a:r>
              <a:rPr lang="pt-PT" b="0" i="0" u="none" strike="noStrike" baseline="0" dirty="0" err="1">
                <a:latin typeface="Times New Roman" panose="02020603050405020304" pitchFamily="18" charset="0"/>
              </a:rPr>
              <a:t>Bokeh</a:t>
            </a:r>
            <a:endParaRPr lang="en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E9064E3-8FBA-A2AF-57C8-AF86059D3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115" y="1617889"/>
            <a:ext cx="10515600" cy="4874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bokeh.plotting</a:t>
            </a:r>
            <a:r>
              <a:rPr lang="en-US" dirty="0"/>
              <a:t> import figure, show</a:t>
            </a:r>
            <a:br>
              <a:rPr lang="en-US" dirty="0"/>
            </a:br>
            <a:r>
              <a:rPr lang="en-US" dirty="0"/>
              <a:t>import pandas as pd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('co2_maunaloa.csv')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 = figure(title='CO2 </a:t>
            </a:r>
            <a:r>
              <a:rPr lang="en-US" dirty="0" err="1"/>
              <a:t>Atmosférico</a:t>
            </a:r>
            <a:r>
              <a:rPr lang="en-US" dirty="0"/>
              <a:t>', </a:t>
            </a:r>
            <a:r>
              <a:rPr lang="en-US" dirty="0" err="1"/>
              <a:t>x_axis_label</a:t>
            </a:r>
            <a:r>
              <a:rPr lang="en-US" dirty="0"/>
              <a:t>='Ano', </a:t>
            </a:r>
            <a:r>
              <a:rPr lang="en-US" dirty="0" err="1"/>
              <a:t>y_axis_label</a:t>
            </a:r>
            <a:r>
              <a:rPr lang="en-US" dirty="0"/>
              <a:t>='PPM')</a:t>
            </a:r>
            <a:br>
              <a:rPr lang="en-US" dirty="0"/>
            </a:br>
            <a:r>
              <a:rPr lang="en-US" dirty="0" err="1"/>
              <a:t>p.line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ano</a:t>
            </a:r>
            <a:r>
              <a:rPr lang="en-US" dirty="0"/>
              <a:t>'], </a:t>
            </a:r>
            <a:r>
              <a:rPr lang="en-US" dirty="0" err="1"/>
              <a:t>df</a:t>
            </a:r>
            <a:r>
              <a:rPr lang="en-US" dirty="0"/>
              <a:t>['ppm'], </a:t>
            </a:r>
            <a:r>
              <a:rPr lang="en-US" dirty="0" err="1"/>
              <a:t>line_width</a:t>
            </a:r>
            <a:r>
              <a:rPr lang="en-US" dirty="0"/>
              <a:t>=2)</a:t>
            </a:r>
            <a:br>
              <a:rPr lang="en-US" dirty="0"/>
            </a:br>
            <a:r>
              <a:rPr lang="en-US" dirty="0" err="1"/>
              <a:t>p.circle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ano</a:t>
            </a:r>
            <a:r>
              <a:rPr lang="en-US" dirty="0"/>
              <a:t>'], </a:t>
            </a:r>
            <a:r>
              <a:rPr lang="en-US" dirty="0" err="1"/>
              <a:t>df</a:t>
            </a:r>
            <a:r>
              <a:rPr lang="en-US" dirty="0"/>
              <a:t>['ppm'], size=8)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show(p)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66320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89141-1EFC-4D92-9C11-7F479E11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Trabalho para Entrega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62B1D26-1E3F-4332-AFC4-5CF014F2C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Fazer um gráfico com 3 imagens</a:t>
            </a:r>
            <a:br>
              <a:rPr lang="pt-PT" dirty="0"/>
            </a:br>
            <a:r>
              <a:rPr lang="pt-PT" dirty="0"/>
              <a:t>  a) imagem A posta à esquerda/topo é o resultado com </a:t>
            </a:r>
            <a:r>
              <a:rPr lang="pt-PT" dirty="0" err="1"/>
              <a:t>plotly</a:t>
            </a:r>
            <a:br>
              <a:rPr lang="pt-PT" dirty="0"/>
            </a:br>
            <a:r>
              <a:rPr lang="pt-PT" dirty="0"/>
              <a:t>  b) imagem B posta ao centro/meio é o resultado com </a:t>
            </a:r>
            <a:r>
              <a:rPr lang="pt-PT" dirty="0" err="1"/>
              <a:t>bokeh</a:t>
            </a:r>
            <a:br>
              <a:rPr lang="pt-PT" dirty="0"/>
            </a:br>
            <a:r>
              <a:rPr lang="pt-PT" dirty="0"/>
              <a:t>  c) imagem C posta à direita/baixo é esta: i. assumir que as barbatanas crescem 14 mm por ano e que o comprimento no ano 2010 é 180 mm; </a:t>
            </a:r>
            <a:r>
              <a:rPr lang="pt-PT" dirty="0" err="1"/>
              <a:t>ii</a:t>
            </a:r>
            <a:r>
              <a:rPr lang="pt-PT" dirty="0"/>
              <a:t>. fazer estimativa da correlação entre “ganho de massa corporal per ano” e respetivo “nível de CO2 para esse ano”</a:t>
            </a:r>
          </a:p>
          <a:p>
            <a:pPr marL="0" indent="0">
              <a:buNone/>
            </a:pPr>
            <a:r>
              <a:rPr lang="pt-PT" dirty="0"/>
              <a:t>     d) imagens A e B e C devem fazer parte duma única figura que é guardada num único ficheiro </a:t>
            </a:r>
            <a:r>
              <a:rPr lang="pt-PT" dirty="0" err="1"/>
              <a:t>jpeg</a:t>
            </a:r>
            <a:r>
              <a:rPr lang="pt-PT" dirty="0"/>
              <a:t>/</a:t>
            </a:r>
            <a:r>
              <a:rPr lang="pt-PT" dirty="0" err="1"/>
              <a:t>png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515044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Contraste_de_Matplotlib_com_outras_PythonPlottingLibraries_v2</Template>
  <TotalTime>873</TotalTime>
  <Words>2125</Words>
  <Application>Microsoft Office PowerPoint</Application>
  <PresentationFormat>Ecrã Panorâmico</PresentationFormat>
  <Paragraphs>167</Paragraphs>
  <Slides>30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Times New Roman</vt:lpstr>
      <vt:lpstr>Tema do Office</vt:lpstr>
      <vt:lpstr>Contraste de Matplotlib com outras bibliotecas em Python</vt:lpstr>
      <vt:lpstr>visualização de dados</vt:lpstr>
      <vt:lpstr>Origem do Matplotlib</vt:lpstr>
      <vt:lpstr>Principais características do Matplotlib</vt:lpstr>
      <vt:lpstr>Matplotlib</vt:lpstr>
      <vt:lpstr>Exercício de Matplotlib #1</vt:lpstr>
      <vt:lpstr>Resultado de Exercício de Matplotlib #1</vt:lpstr>
      <vt:lpstr>Solução de Exercício de Matplotlib #1</vt:lpstr>
      <vt:lpstr>Exercício de Matplotlib #2</vt:lpstr>
      <vt:lpstr>Resultado de Exercício de Matplotlib #2</vt:lpstr>
      <vt:lpstr>Solução de Exercício de Matplotlib #2</vt:lpstr>
      <vt:lpstr>Exercício de Matplotlib #3</vt:lpstr>
      <vt:lpstr>Resultado de Exercício de Matplotlib #3</vt:lpstr>
      <vt:lpstr>Solução de Exercício de Matplotlib #3</vt:lpstr>
      <vt:lpstr>Origem do Seaborn</vt:lpstr>
      <vt:lpstr>Principais características do Seaborn</vt:lpstr>
      <vt:lpstr>Seaborn</vt:lpstr>
      <vt:lpstr>Exercícios de Seaborn</vt:lpstr>
      <vt:lpstr>Plotly- biblioteca interativa de gráficos</vt:lpstr>
      <vt:lpstr>Plotly</vt:lpstr>
      <vt:lpstr>Bokeh- biblioteca Python para visualizações interativas</vt:lpstr>
      <vt:lpstr>Bokeh</vt:lpstr>
      <vt:lpstr>3 Exercícios</vt:lpstr>
      <vt:lpstr>Resultado de Exercício de Seaborn</vt:lpstr>
      <vt:lpstr>Solução de Exercício de Seaborn</vt:lpstr>
      <vt:lpstr>Resultado de Exercício de Plotly</vt:lpstr>
      <vt:lpstr>Solução de Exercício de Plotly</vt:lpstr>
      <vt:lpstr>Resultado de Exercício de Bokeh</vt:lpstr>
      <vt:lpstr>Solução de Exercício de Bokeh</vt:lpstr>
      <vt:lpstr>Trabalho para Entrega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Contraste de Matplotlib com outras bibliotecas em Python</dc:title>
  <dc:creator>Nicolas Lori</dc:creator>
  <cp:lastModifiedBy>Nicolas Francisco Lori</cp:lastModifiedBy>
  <cp:revision>61</cp:revision>
  <dcterms:created xsi:type="dcterms:W3CDTF">2026-03-15T17:47:12Z</dcterms:created>
  <dcterms:modified xsi:type="dcterms:W3CDTF">2026-03-20T18:11:38Z</dcterms:modified>
</cp:coreProperties>
</file>